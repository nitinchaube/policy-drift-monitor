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Paid</c:v>
                </c:pt>
              </c:strCache>
            </c:strRef>
          </c:tx>
          <c:spPr>
            <a:solidFill>
              <a:srgbClr val="3E7A5E"/>
            </a:solidFill>
            <a:effectLst/>
          </c:spPr>
          <c:invertIfNegative val="0"/>
          <c:dLbls>
            <c:numFmt formatCode="#,##0" sourceLinked="0"/>
            <c:txPr>
              <a:bodyPr/>
              <a:lstStyle/>
              <a:p>
                <a:pPr>
                  <a:defRPr b="1"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Before correction</c:v>
                  </c:pt>
                  <c:pt idx="1">
                    <c:v>After correction</c:v>
                  </c:pt>
                </c:lvl>
              </c:multiLvlStrCache>
            </c:multiLvlStrRef>
          </c:cat>
          <c:val>
            <c:numRef>
              <c:f>Sheet1!$B$2:$B$3</c:f>
              <c:numCache>
                <c:formatCode>General</c:formatCode>
                <c:ptCount val="2"/>
                <c:pt idx="0">
                  <c:v>7</c:v>
                </c:pt>
                <c:pt idx="1">
                  <c:v>13</c:v>
                </c:pt>
              </c:numCache>
            </c:numRef>
          </c:val>
        </c:ser>
        <c:ser>
          <c:idx val="1"/>
          <c:order val="1"/>
          <c:tx>
            <c:strRef>
              <c:f>Sheet1!$C$1</c:f>
              <c:strCache>
                <c:ptCount val="1"/>
                <c:pt idx="0">
                  <c:v>Denied</c:v>
                </c:pt>
              </c:strCache>
            </c:strRef>
          </c:tx>
          <c:spPr>
            <a:solidFill>
              <a:srgbClr val="B4453A"/>
            </a:solidFill>
            <a:effectLst/>
          </c:spPr>
          <c:invertIfNegative val="0"/>
          <c:dLbls>
            <c:numFmt formatCode="#,##0" sourceLinked="0"/>
            <c:txPr>
              <a:bodyPr/>
              <a:lstStyle/>
              <a:p>
                <a:pPr>
                  <a:defRPr b="1"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Before correction</c:v>
                  </c:pt>
                  <c:pt idx="1">
                    <c:v>After correction</c:v>
                  </c:pt>
                </c:lvl>
              </c:multiLvlStrCache>
            </c:multiLvlStrRef>
          </c:cat>
          <c:val>
            <c:numRef>
              <c:f>Sheet1!$C$2:$C$3</c:f>
              <c:numCache>
                <c:formatCode>General</c:formatCode>
                <c:ptCount val="2"/>
                <c:pt idx="0">
                  <c:v>10</c:v>
                </c:pt>
                <c:pt idx="1">
                  <c:v>5</c:v>
                </c:pt>
              </c:numCache>
            </c:numRef>
          </c:val>
        </c:ser>
        <c:ser>
          <c:idx val="2"/>
          <c:order val="2"/>
          <c:tx>
            <c:strRef>
              <c:f>Sheet1!$D$1</c:f>
              <c:strCache>
                <c:ptCount val="1"/>
                <c:pt idx="0">
                  <c:v>Manual review</c:v>
                </c:pt>
              </c:strCache>
            </c:strRef>
          </c:tx>
          <c:spPr>
            <a:solidFill>
              <a:srgbClr val="9A7420"/>
            </a:solidFill>
            <a:effectLst/>
          </c:spPr>
          <c:invertIfNegative val="0"/>
          <c:dLbls>
            <c:numFmt formatCode="#,##0" sourceLinked="0"/>
            <c:txPr>
              <a:bodyPr/>
              <a:lstStyle/>
              <a:p>
                <a:pPr>
                  <a:defRPr b="1" i="0" strike="noStrike" sz="13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Before correction</c:v>
                  </c:pt>
                  <c:pt idx="1">
                    <c:v>After correction</c:v>
                  </c:pt>
                </c:lvl>
              </c:multiLvlStrCache>
            </c:multiLvlStrRef>
          </c:cat>
          <c:val>
            <c:numRef>
              <c:f>Sheet1!$D$2:$D$3</c:f>
              <c:numCache>
                <c:formatCode>General</c:formatCode>
                <c:ptCount val="2"/>
                <c:pt idx="0">
                  <c:v>3</c:v>
                </c:pt>
                <c:pt idx="1">
                  <c:v>2</c:v>
                </c:pt>
              </c:numCache>
            </c:numRef>
          </c:val>
        </c:ser>
        <c:dLbls>
          <c:numFmt formatCode="#,##0" sourceLinked="0"/>
          <c:txPr>
            <a:bodyPr/>
            <a:lstStyle/>
            <a:p>
              <a:pPr>
                <a:defRPr b="1" i="0" strike="noStrike" sz="13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C3141"/>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9525" cap="flat">
              <a:solidFill>
                <a:srgbClr val="D8DEE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A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a payer turns written policy into claim rules. The policy changes. The rules do not. This is a working tool that finds the gap, built on real Medicare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is not that the rule was written badly. It was correct in January. The failure is that nothing revisits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Stages 1 to 3 are the product a payer already has, in miniature. Stage 4 is the part nobody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evaluation set came from CMS, not from me. That is the difference between a demo and a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numbers to say out loud. Three of three, zero false alarms, and a negative control that cost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C-007 is the one to point at. Denied for testing once a day, under a requirement Medicare removed in July 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the project from a chatbot demo. Say the appeal line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slide. Being able to name your own failures is the strongest thing in the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2 is the rung I did not build.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recommendation one. It is the one that could ship next quarter without changing how anyone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section confidently, not apologetically. It is a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line. Do not oversell.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141"/>
        </a:solidFill>
      </p:bgPr>
    </p:bg>
    <p:spTree>
      <p:nvGrpSpPr>
        <p:cNvPr id="1" name=""/>
        <p:cNvGrpSpPr/>
        <p:nvPr/>
      </p:nvGrpSpPr>
      <p:grpSpPr>
        <a:xfrm>
          <a:off x="0" y="0"/>
          <a:ext cx="0" cy="0"/>
          <a:chOff x="0" y="0"/>
          <a:chExt cx="0" cy="0"/>
        </a:xfrm>
      </p:grpSpPr>
      <p:sp>
        <p:nvSpPr>
          <p:cNvPr id="2" name="Text 0"/>
          <p:cNvSpPr/>
          <p:nvPr/>
        </p:nvSpPr>
        <p:spPr>
          <a:xfrm>
            <a:off x="594360" y="2057400"/>
            <a:ext cx="914400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Policy Drift Monitor</a:t>
            </a:r>
            <a:endParaRPr lang="en-US" sz="4600" dirty="0"/>
          </a:p>
        </p:txBody>
      </p:sp>
      <p:sp>
        <p:nvSpPr>
          <p:cNvPr id="3" name="Text 1"/>
          <p:cNvSpPr/>
          <p:nvPr/>
        </p:nvSpPr>
        <p:spPr>
          <a:xfrm>
            <a:off x="594360" y="2971800"/>
            <a:ext cx="9326880" cy="502920"/>
          </a:xfrm>
          <a:prstGeom prst="rect">
            <a:avLst/>
          </a:prstGeom>
          <a:noFill/>
          <a:ln/>
        </p:spPr>
        <p:txBody>
          <a:bodyPr wrap="square" lIns="0" tIns="0" rIns="0" bIns="0" rtlCol="0" anchor="ctr"/>
          <a:lstStyle/>
          <a:p>
            <a:pPr indent="0" marL="0">
              <a:buNone/>
            </a:pPr>
            <a:r>
              <a:rPr lang="en-US" sz="1800" dirty="0">
                <a:solidFill>
                  <a:srgbClr val="AFC0CC"/>
                </a:solidFill>
                <a:latin typeface="Calibri" pitchFamily="34" charset="0"/>
                <a:ea typeface="Calibri" pitchFamily="34" charset="-122"/>
                <a:cs typeface="Calibri" pitchFamily="34" charset="-120"/>
              </a:rPr>
              <a:t>When a coverage policy changes, which of your claim rules just went wrong?</a:t>
            </a:r>
            <a:endParaRPr lang="en-US" sz="1800" dirty="0"/>
          </a:p>
        </p:txBody>
      </p:sp>
      <p:sp>
        <p:nvSpPr>
          <p:cNvPr id="4" name="Shape 2"/>
          <p:cNvSpPr/>
          <p:nvPr/>
        </p:nvSpPr>
        <p:spPr>
          <a:xfrm>
            <a:off x="594360" y="3794760"/>
            <a:ext cx="1005840" cy="27432"/>
          </a:xfrm>
          <a:prstGeom prst="rect">
            <a:avLst/>
          </a:prstGeom>
          <a:solidFill>
            <a:srgbClr val="B4453A"/>
          </a:solidFill>
          <a:ln/>
        </p:spPr>
      </p:sp>
      <p:sp>
        <p:nvSpPr>
          <p:cNvPr id="5" name="Text 3"/>
          <p:cNvSpPr/>
          <p:nvPr/>
        </p:nvSpPr>
        <p:spPr>
          <a:xfrm>
            <a:off x="594360" y="4114800"/>
            <a:ext cx="7315200" cy="310896"/>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Nitin Chaube</a:t>
            </a:r>
            <a:endParaRPr lang="en-US" sz="1500" dirty="0"/>
          </a:p>
        </p:txBody>
      </p:sp>
      <p:sp>
        <p:nvSpPr>
          <p:cNvPr id="6" name="Text 4"/>
          <p:cNvSpPr/>
          <p:nvPr/>
        </p:nvSpPr>
        <p:spPr>
          <a:xfrm>
            <a:off x="594360" y="4434840"/>
            <a:ext cx="8229600" cy="310896"/>
          </a:xfrm>
          <a:prstGeom prst="rect">
            <a:avLst/>
          </a:prstGeom>
          <a:noFill/>
          <a:ln/>
        </p:spPr>
        <p:txBody>
          <a:bodyPr wrap="square" lIns="0" tIns="0" rIns="0" bIns="0" rtlCol="0" anchor="ctr"/>
          <a:lstStyle/>
          <a:p>
            <a:pPr indent="0" marL="0">
              <a:buNone/>
            </a:pPr>
            <a:r>
              <a:rPr lang="en-US" sz="1300" dirty="0">
                <a:solidFill>
                  <a:srgbClr val="8FA3B2"/>
                </a:solidFill>
                <a:latin typeface="Calibri" pitchFamily="34" charset="0"/>
                <a:ea typeface="Calibri" pitchFamily="34" charset="-122"/>
                <a:cs typeface="Calibri" pitchFamily="34" charset="-120"/>
              </a:rPr>
              <a:t>Cotiviti Intern Assessment  ·  Topic 3: Content Management in Health Care</a:t>
            </a:r>
            <a:endParaRPr lang="en-US" sz="1300" dirty="0"/>
          </a:p>
        </p:txBody>
      </p:sp>
      <p:sp>
        <p:nvSpPr>
          <p:cNvPr id="7" name="Text 5"/>
          <p:cNvSpPr/>
          <p:nvPr/>
        </p:nvSpPr>
        <p:spPr>
          <a:xfrm>
            <a:off x="594360" y="4846320"/>
            <a:ext cx="8229600" cy="274320"/>
          </a:xfrm>
          <a:prstGeom prst="rect">
            <a:avLst/>
          </a:prstGeom>
          <a:noFill/>
          <a:ln/>
        </p:spPr>
        <p:txBody>
          <a:bodyPr wrap="square" lIns="0" tIns="0" rIns="0" bIns="0" rtlCol="0" anchor="ctr"/>
          <a:lstStyle/>
          <a:p>
            <a:pPr indent="0" marL="0">
              <a:buNone/>
            </a:pPr>
            <a:r>
              <a:rPr lang="en-US" sz="1100" dirty="0">
                <a:solidFill>
                  <a:srgbClr val="6E8798"/>
                </a:solidFill>
                <a:latin typeface="Courier New" pitchFamily="34" charset="0"/>
                <a:ea typeface="Courier New" pitchFamily="34" charset="-122"/>
                <a:cs typeface="Courier New" pitchFamily="34" charset="-120"/>
              </a:rPr>
              <a:t>CMS LCD L33822  ·  v1 eff. 2020-01-01   v2 eff. 2021-07-18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THE PROBLEM</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Rules are derived once. Policies change forever.</a:t>
            </a:r>
            <a:endParaRPr lang="en-US" sz="3200" dirty="0"/>
          </a:p>
        </p:txBody>
      </p:sp>
      <p:sp>
        <p:nvSpPr>
          <p:cNvPr id="5" name="Shape 3"/>
          <p:cNvSpPr/>
          <p:nvPr/>
        </p:nvSpPr>
        <p:spPr>
          <a:xfrm>
            <a:off x="594360" y="1828800"/>
            <a:ext cx="2640330" cy="2286000"/>
          </a:xfrm>
          <a:prstGeom prst="roundRect">
            <a:avLst>
              <a:gd name="adj" fmla="val 1600"/>
            </a:avLst>
          </a:prstGeom>
          <a:solidFill>
            <a:srgbClr val="F1F4F6"/>
          </a:solidFill>
          <a:ln w="9525">
            <a:solidFill>
              <a:srgbClr val="D8DEE3"/>
            </a:solidFill>
            <a:prstDash val="solid"/>
          </a:ln>
        </p:spPr>
      </p:sp>
      <p:sp>
        <p:nvSpPr>
          <p:cNvPr id="6" name="Text 4"/>
          <p:cNvSpPr/>
          <p:nvPr/>
        </p:nvSpPr>
        <p:spPr>
          <a:xfrm>
            <a:off x="795528" y="2029968"/>
            <a:ext cx="2237994" cy="274320"/>
          </a:xfrm>
          <a:prstGeom prst="rect">
            <a:avLst/>
          </a:prstGeom>
          <a:noFill/>
          <a:ln/>
        </p:spPr>
        <p:txBody>
          <a:bodyPr wrap="square" lIns="0" tIns="0" rIns="0" bIns="0" rtlCol="0" anchor="ctr"/>
          <a:lstStyle/>
          <a:p>
            <a:pPr indent="0" marL="0">
              <a:buNone/>
            </a:pPr>
            <a:r>
              <a:rPr lang="en-US" sz="1100" b="1" dirty="0">
                <a:solidFill>
                  <a:srgbClr val="2A4759"/>
                </a:solidFill>
                <a:latin typeface="Courier New" pitchFamily="34" charset="0"/>
                <a:ea typeface="Courier New" pitchFamily="34" charset="-122"/>
                <a:cs typeface="Courier New" pitchFamily="34" charset="-120"/>
              </a:rPr>
              <a:t>JAN</a:t>
            </a:r>
            <a:endParaRPr lang="en-US" sz="1100" dirty="0"/>
          </a:p>
        </p:txBody>
      </p:sp>
      <p:sp>
        <p:nvSpPr>
          <p:cNvPr id="7" name="Text 5"/>
          <p:cNvSpPr/>
          <p:nvPr/>
        </p:nvSpPr>
        <p:spPr>
          <a:xfrm>
            <a:off x="795528" y="2377440"/>
            <a:ext cx="2237994" cy="640080"/>
          </a:xfrm>
          <a:prstGeom prst="rect">
            <a:avLst/>
          </a:prstGeom>
          <a:noFill/>
          <a:ln/>
        </p:spPr>
        <p:txBody>
          <a:bodyPr wrap="square" lIns="0" tIns="0" rIns="0" bIns="0" rtlCol="0" anchor="ctr"/>
          <a:lstStyle/>
          <a:p>
            <a:pPr indent="0" marL="0">
              <a:buNone/>
            </a:pPr>
            <a:r>
              <a:rPr lang="en-US" sz="1500" b="1" dirty="0">
                <a:solidFill>
                  <a:srgbClr val="1C3141"/>
                </a:solidFill>
                <a:latin typeface="Calibri" pitchFamily="34" charset="0"/>
                <a:ea typeface="Calibri" pitchFamily="34" charset="-122"/>
                <a:cs typeface="Calibri" pitchFamily="34" charset="-120"/>
              </a:rPr>
              <a:t>Policy v1 published</a:t>
            </a:r>
            <a:endParaRPr lang="en-US" sz="1500" dirty="0"/>
          </a:p>
        </p:txBody>
      </p:sp>
      <p:sp>
        <p:nvSpPr>
          <p:cNvPr id="8" name="Text 6"/>
          <p:cNvSpPr/>
          <p:nvPr/>
        </p:nvSpPr>
        <p:spPr>
          <a:xfrm>
            <a:off x="795528" y="3017520"/>
            <a:ext cx="2237994" cy="960120"/>
          </a:xfrm>
          <a:prstGeom prst="rect">
            <a:avLst/>
          </a:prstGeom>
          <a:noFill/>
          <a:ln/>
        </p:spPr>
        <p:txBody>
          <a:bodyPr wrap="square" lIns="0" tIns="0" rIns="0" bIns="0" rtlCol="0" anchor="ctr"/>
          <a:lstStyle/>
          <a:p>
            <a:pPr indent="0" marL="0">
              <a:buNone/>
            </a:pPr>
            <a:r>
              <a:rPr lang="en-US" sz="1200" dirty="0">
                <a:solidFill>
                  <a:srgbClr val="6B7A85"/>
                </a:solidFill>
                <a:latin typeface="Calibri" pitchFamily="34" charset="0"/>
                <a:ea typeface="Calibri" pitchFamily="34" charset="-122"/>
                <a:cs typeface="Calibri" pitchFamily="34" charset="-120"/>
              </a:rPr>
              <a:t>An analyst reads it and writes 12 claim rules. They go live.</a:t>
            </a:r>
            <a:endParaRPr lang="en-US" sz="1200" dirty="0"/>
          </a:p>
        </p:txBody>
      </p:sp>
      <p:sp>
        <p:nvSpPr>
          <p:cNvPr id="9" name="Shape 7"/>
          <p:cNvSpPr/>
          <p:nvPr/>
        </p:nvSpPr>
        <p:spPr>
          <a:xfrm>
            <a:off x="3371850" y="1828800"/>
            <a:ext cx="2640330" cy="2286000"/>
          </a:xfrm>
          <a:prstGeom prst="roundRect">
            <a:avLst>
              <a:gd name="adj" fmla="val 1600"/>
            </a:avLst>
          </a:prstGeom>
          <a:solidFill>
            <a:srgbClr val="F1F4F6"/>
          </a:solidFill>
          <a:ln w="9525">
            <a:solidFill>
              <a:srgbClr val="D8DEE3"/>
            </a:solidFill>
            <a:prstDash val="solid"/>
          </a:ln>
        </p:spPr>
      </p:sp>
      <p:sp>
        <p:nvSpPr>
          <p:cNvPr id="10" name="Text 8"/>
          <p:cNvSpPr/>
          <p:nvPr/>
        </p:nvSpPr>
        <p:spPr>
          <a:xfrm>
            <a:off x="3573018" y="2029968"/>
            <a:ext cx="2237994" cy="274320"/>
          </a:xfrm>
          <a:prstGeom prst="rect">
            <a:avLst/>
          </a:prstGeom>
          <a:noFill/>
          <a:ln/>
        </p:spPr>
        <p:txBody>
          <a:bodyPr wrap="square" lIns="0" tIns="0" rIns="0" bIns="0" rtlCol="0" anchor="ctr"/>
          <a:lstStyle/>
          <a:p>
            <a:pPr indent="0" marL="0">
              <a:buNone/>
            </a:pPr>
            <a:r>
              <a:rPr lang="en-US" sz="1100" b="1" dirty="0">
                <a:solidFill>
                  <a:srgbClr val="2A4759"/>
                </a:solidFill>
                <a:latin typeface="Courier New" pitchFamily="34" charset="0"/>
                <a:ea typeface="Courier New" pitchFamily="34" charset="-122"/>
                <a:cs typeface="Courier New" pitchFamily="34" charset="-120"/>
              </a:rPr>
              <a:t>FEB–JUN</a:t>
            </a:r>
            <a:endParaRPr lang="en-US" sz="1100" dirty="0"/>
          </a:p>
        </p:txBody>
      </p:sp>
      <p:sp>
        <p:nvSpPr>
          <p:cNvPr id="11" name="Text 9"/>
          <p:cNvSpPr/>
          <p:nvPr/>
        </p:nvSpPr>
        <p:spPr>
          <a:xfrm>
            <a:off x="3573018" y="2377440"/>
            <a:ext cx="2237994" cy="640080"/>
          </a:xfrm>
          <a:prstGeom prst="rect">
            <a:avLst/>
          </a:prstGeom>
          <a:noFill/>
          <a:ln/>
        </p:spPr>
        <p:txBody>
          <a:bodyPr wrap="square" lIns="0" tIns="0" rIns="0" bIns="0" rtlCol="0" anchor="ctr"/>
          <a:lstStyle/>
          <a:p>
            <a:pPr indent="0" marL="0">
              <a:buNone/>
            </a:pPr>
            <a:r>
              <a:rPr lang="en-US" sz="1500" b="1" dirty="0">
                <a:solidFill>
                  <a:srgbClr val="1C3141"/>
                </a:solidFill>
                <a:latin typeface="Calibri" pitchFamily="34" charset="0"/>
                <a:ea typeface="Calibri" pitchFamily="34" charset="-122"/>
                <a:cs typeface="Calibri" pitchFamily="34" charset="-120"/>
              </a:rPr>
              <a:t>Rules decide claims</a:t>
            </a:r>
            <a:endParaRPr lang="en-US" sz="1500" dirty="0"/>
          </a:p>
        </p:txBody>
      </p:sp>
      <p:sp>
        <p:nvSpPr>
          <p:cNvPr id="12" name="Text 10"/>
          <p:cNvSpPr/>
          <p:nvPr/>
        </p:nvSpPr>
        <p:spPr>
          <a:xfrm>
            <a:off x="3573018" y="3017520"/>
            <a:ext cx="2237994" cy="960120"/>
          </a:xfrm>
          <a:prstGeom prst="rect">
            <a:avLst/>
          </a:prstGeom>
          <a:noFill/>
          <a:ln/>
        </p:spPr>
        <p:txBody>
          <a:bodyPr wrap="square" lIns="0" tIns="0" rIns="0" bIns="0" rtlCol="0" anchor="ctr"/>
          <a:lstStyle/>
          <a:p>
            <a:pPr indent="0" marL="0">
              <a:buNone/>
            </a:pPr>
            <a:r>
              <a:rPr lang="en-US" sz="1200" dirty="0">
                <a:solidFill>
                  <a:srgbClr val="6B7A85"/>
                </a:solidFill>
                <a:latin typeface="Calibri" pitchFamily="34" charset="0"/>
                <a:ea typeface="Calibri" pitchFamily="34" charset="-122"/>
                <a:cs typeface="Calibri" pitchFamily="34" charset="-120"/>
              </a:rPr>
              <a:t>Thousands of decisions a day. Working exactly as intended.</a:t>
            </a:r>
            <a:endParaRPr lang="en-US" sz="1200" dirty="0"/>
          </a:p>
        </p:txBody>
      </p:sp>
      <p:sp>
        <p:nvSpPr>
          <p:cNvPr id="13" name="Shape 11"/>
          <p:cNvSpPr/>
          <p:nvPr/>
        </p:nvSpPr>
        <p:spPr>
          <a:xfrm>
            <a:off x="6149340" y="1828800"/>
            <a:ext cx="2640330" cy="2286000"/>
          </a:xfrm>
          <a:prstGeom prst="roundRect">
            <a:avLst>
              <a:gd name="adj" fmla="val 1600"/>
            </a:avLst>
          </a:prstGeom>
          <a:solidFill>
            <a:srgbClr val="F1F4F6"/>
          </a:solidFill>
          <a:ln w="9525">
            <a:solidFill>
              <a:srgbClr val="D8DEE3"/>
            </a:solidFill>
            <a:prstDash val="solid"/>
          </a:ln>
        </p:spPr>
      </p:sp>
      <p:sp>
        <p:nvSpPr>
          <p:cNvPr id="14" name="Text 12"/>
          <p:cNvSpPr/>
          <p:nvPr/>
        </p:nvSpPr>
        <p:spPr>
          <a:xfrm>
            <a:off x="6350508" y="2029968"/>
            <a:ext cx="2237994" cy="274320"/>
          </a:xfrm>
          <a:prstGeom prst="rect">
            <a:avLst/>
          </a:prstGeom>
          <a:noFill/>
          <a:ln/>
        </p:spPr>
        <p:txBody>
          <a:bodyPr wrap="square" lIns="0" tIns="0" rIns="0" bIns="0" rtlCol="0" anchor="ctr"/>
          <a:lstStyle/>
          <a:p>
            <a:pPr indent="0" marL="0">
              <a:buNone/>
            </a:pPr>
            <a:r>
              <a:rPr lang="en-US" sz="1100" b="1" dirty="0">
                <a:solidFill>
                  <a:srgbClr val="9A7420"/>
                </a:solidFill>
                <a:latin typeface="Courier New" pitchFamily="34" charset="0"/>
                <a:ea typeface="Courier New" pitchFamily="34" charset="-122"/>
                <a:cs typeface="Courier New" pitchFamily="34" charset="-120"/>
              </a:rPr>
              <a:t>JUL</a:t>
            </a:r>
            <a:endParaRPr lang="en-US" sz="1100" dirty="0"/>
          </a:p>
        </p:txBody>
      </p:sp>
      <p:sp>
        <p:nvSpPr>
          <p:cNvPr id="15" name="Text 13"/>
          <p:cNvSpPr/>
          <p:nvPr/>
        </p:nvSpPr>
        <p:spPr>
          <a:xfrm>
            <a:off x="6350508" y="2377440"/>
            <a:ext cx="2237994" cy="640080"/>
          </a:xfrm>
          <a:prstGeom prst="rect">
            <a:avLst/>
          </a:prstGeom>
          <a:noFill/>
          <a:ln/>
        </p:spPr>
        <p:txBody>
          <a:bodyPr wrap="square" lIns="0" tIns="0" rIns="0" bIns="0" rtlCol="0" anchor="ctr"/>
          <a:lstStyle/>
          <a:p>
            <a:pPr indent="0" marL="0">
              <a:buNone/>
            </a:pPr>
            <a:r>
              <a:rPr lang="en-US" sz="1500" b="1" dirty="0">
                <a:solidFill>
                  <a:srgbClr val="1C3141"/>
                </a:solidFill>
                <a:latin typeface="Calibri" pitchFamily="34" charset="0"/>
                <a:ea typeface="Calibri" pitchFamily="34" charset="-122"/>
                <a:cs typeface="Calibri" pitchFamily="34" charset="-120"/>
              </a:rPr>
              <a:t>CMS revises the policy</a:t>
            </a:r>
            <a:endParaRPr lang="en-US" sz="1500" dirty="0"/>
          </a:p>
        </p:txBody>
      </p:sp>
      <p:sp>
        <p:nvSpPr>
          <p:cNvPr id="16" name="Text 14"/>
          <p:cNvSpPr/>
          <p:nvPr/>
        </p:nvSpPr>
        <p:spPr>
          <a:xfrm>
            <a:off x="6350508" y="3017520"/>
            <a:ext cx="2237994" cy="960120"/>
          </a:xfrm>
          <a:prstGeom prst="rect">
            <a:avLst/>
          </a:prstGeom>
          <a:noFill/>
          <a:ln/>
        </p:spPr>
        <p:txBody>
          <a:bodyPr wrap="square" lIns="0" tIns="0" rIns="0" bIns="0" rtlCol="0" anchor="ctr"/>
          <a:lstStyle/>
          <a:p>
            <a:pPr indent="0" marL="0">
              <a:buNone/>
            </a:pPr>
            <a:r>
              <a:rPr lang="en-US" sz="1200" dirty="0">
                <a:solidFill>
                  <a:srgbClr val="6B7A85"/>
                </a:solidFill>
                <a:latin typeface="Calibri" pitchFamily="34" charset="0"/>
                <a:ea typeface="Calibri" pitchFamily="34" charset="-122"/>
                <a:cs typeface="Calibri" pitchFamily="34" charset="-120"/>
              </a:rPr>
              <a:t>Three coverage criteria change. Nobody re-reads the rule library.</a:t>
            </a:r>
            <a:endParaRPr lang="en-US" sz="1200" dirty="0"/>
          </a:p>
        </p:txBody>
      </p:sp>
      <p:sp>
        <p:nvSpPr>
          <p:cNvPr id="17" name="Shape 15"/>
          <p:cNvSpPr/>
          <p:nvPr/>
        </p:nvSpPr>
        <p:spPr>
          <a:xfrm>
            <a:off x="8926830" y="1828800"/>
            <a:ext cx="2640330" cy="2286000"/>
          </a:xfrm>
          <a:prstGeom prst="roundRect">
            <a:avLst>
              <a:gd name="adj" fmla="val 1600"/>
            </a:avLst>
          </a:prstGeom>
          <a:solidFill>
            <a:srgbClr val="F7EDEC"/>
          </a:solidFill>
          <a:ln w="9525">
            <a:solidFill>
              <a:srgbClr val="D8DEE3"/>
            </a:solidFill>
            <a:prstDash val="solid"/>
          </a:ln>
        </p:spPr>
      </p:sp>
      <p:sp>
        <p:nvSpPr>
          <p:cNvPr id="18" name="Text 16"/>
          <p:cNvSpPr/>
          <p:nvPr/>
        </p:nvSpPr>
        <p:spPr>
          <a:xfrm>
            <a:off x="9127998" y="2029968"/>
            <a:ext cx="2237994" cy="274320"/>
          </a:xfrm>
          <a:prstGeom prst="rect">
            <a:avLst/>
          </a:prstGeom>
          <a:noFill/>
          <a:ln/>
        </p:spPr>
        <p:txBody>
          <a:bodyPr wrap="square" lIns="0" tIns="0" rIns="0" bIns="0" rtlCol="0" anchor="ctr"/>
          <a:lstStyle/>
          <a:p>
            <a:pPr indent="0" marL="0">
              <a:buNone/>
            </a:pPr>
            <a:r>
              <a:rPr lang="en-US" sz="1100" b="1" dirty="0">
                <a:solidFill>
                  <a:srgbClr val="B4453A"/>
                </a:solidFill>
                <a:latin typeface="Courier New" pitchFamily="34" charset="0"/>
                <a:ea typeface="Courier New" pitchFamily="34" charset="-122"/>
                <a:cs typeface="Courier New" pitchFamily="34" charset="-120"/>
              </a:rPr>
              <a:t>AUG+</a:t>
            </a:r>
            <a:endParaRPr lang="en-US" sz="1100" dirty="0"/>
          </a:p>
        </p:txBody>
      </p:sp>
      <p:sp>
        <p:nvSpPr>
          <p:cNvPr id="19" name="Text 17"/>
          <p:cNvSpPr/>
          <p:nvPr/>
        </p:nvSpPr>
        <p:spPr>
          <a:xfrm>
            <a:off x="9127998" y="2377440"/>
            <a:ext cx="2237994" cy="640080"/>
          </a:xfrm>
          <a:prstGeom prst="rect">
            <a:avLst/>
          </a:prstGeom>
          <a:noFill/>
          <a:ln/>
        </p:spPr>
        <p:txBody>
          <a:bodyPr wrap="square" lIns="0" tIns="0" rIns="0" bIns="0" rtlCol="0" anchor="ctr"/>
          <a:lstStyle/>
          <a:p>
            <a:pPr indent="0" marL="0">
              <a:buNone/>
            </a:pPr>
            <a:r>
              <a:rPr lang="en-US" sz="1500" b="1" dirty="0">
                <a:solidFill>
                  <a:srgbClr val="1C3141"/>
                </a:solidFill>
                <a:latin typeface="Calibri" pitchFamily="34" charset="0"/>
                <a:ea typeface="Calibri" pitchFamily="34" charset="-122"/>
                <a:cs typeface="Calibri" pitchFamily="34" charset="-120"/>
              </a:rPr>
              <a:t>Rules are now wrong</a:t>
            </a:r>
            <a:endParaRPr lang="en-US" sz="1500" dirty="0"/>
          </a:p>
        </p:txBody>
      </p:sp>
      <p:sp>
        <p:nvSpPr>
          <p:cNvPr id="20" name="Text 18"/>
          <p:cNvSpPr/>
          <p:nvPr/>
        </p:nvSpPr>
        <p:spPr>
          <a:xfrm>
            <a:off x="9127998" y="3017520"/>
            <a:ext cx="2237994" cy="960120"/>
          </a:xfrm>
          <a:prstGeom prst="rect">
            <a:avLst/>
          </a:prstGeom>
          <a:noFill/>
          <a:ln/>
        </p:spPr>
        <p:txBody>
          <a:bodyPr wrap="square" lIns="0" tIns="0" rIns="0" bIns="0" rtlCol="0" anchor="ctr"/>
          <a:lstStyle/>
          <a:p>
            <a:pPr indent="0" marL="0">
              <a:buNone/>
            </a:pPr>
            <a:r>
              <a:rPr lang="en-US" sz="1200" dirty="0">
                <a:solidFill>
                  <a:srgbClr val="6B7A85"/>
                </a:solidFill>
                <a:latin typeface="Calibri" pitchFamily="34" charset="0"/>
                <a:ea typeface="Calibri" pitchFamily="34" charset="-122"/>
                <a:cs typeface="Calibri" pitchFamily="34" charset="-120"/>
              </a:rPr>
              <a:t>They keep denying claims the policy now covers. Silently.</a:t>
            </a:r>
            <a:endParaRPr lang="en-US" sz="1200" dirty="0"/>
          </a:p>
        </p:txBody>
      </p:sp>
      <p:sp>
        <p:nvSpPr>
          <p:cNvPr id="21" name="Text 19"/>
          <p:cNvSpPr/>
          <p:nvPr/>
        </p:nvSpPr>
        <p:spPr>
          <a:xfrm>
            <a:off x="594360" y="4526280"/>
            <a:ext cx="10972800" cy="411480"/>
          </a:xfrm>
          <a:prstGeom prst="rect">
            <a:avLst/>
          </a:prstGeom>
          <a:noFill/>
          <a:ln/>
        </p:spPr>
        <p:txBody>
          <a:bodyPr wrap="square" lIns="0" tIns="0" rIns="0" bIns="0" rtlCol="0" anchor="ctr"/>
          <a:lstStyle/>
          <a:p>
            <a:pPr indent="0" marL="0">
              <a:buNone/>
            </a:pPr>
            <a:r>
              <a:rPr lang="en-US" sz="1900" i="1" dirty="0">
                <a:solidFill>
                  <a:srgbClr val="1C3141"/>
                </a:solidFill>
                <a:latin typeface="Cambria" pitchFamily="34" charset="0"/>
                <a:ea typeface="Cambria" pitchFamily="34" charset="-122"/>
                <a:cs typeface="Cambria" pitchFamily="34" charset="-120"/>
              </a:rPr>
              <a:t>Nobody’s job is to re-read thousands of policies checking whether old rules still hold.</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WHAT IT DOES</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Four stages, one loop</a:t>
            </a:r>
            <a:endParaRPr lang="en-US" sz="3200" dirty="0"/>
          </a:p>
        </p:txBody>
      </p:sp>
      <p:sp>
        <p:nvSpPr>
          <p:cNvPr id="5" name="Shape 3"/>
          <p:cNvSpPr/>
          <p:nvPr/>
        </p:nvSpPr>
        <p:spPr>
          <a:xfrm>
            <a:off x="594360" y="1819656"/>
            <a:ext cx="457200" cy="457200"/>
          </a:xfrm>
          <a:prstGeom prst="ellipse">
            <a:avLst/>
          </a:prstGeom>
          <a:solidFill>
            <a:srgbClr val="1C3141"/>
          </a:solidFill>
          <a:ln/>
        </p:spPr>
      </p:sp>
      <p:sp>
        <p:nvSpPr>
          <p:cNvPr id="6" name="Text 4"/>
          <p:cNvSpPr/>
          <p:nvPr/>
        </p:nvSpPr>
        <p:spPr>
          <a:xfrm>
            <a:off x="594360" y="18196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80160" y="1783080"/>
            <a:ext cx="1920240" cy="365760"/>
          </a:xfrm>
          <a:prstGeom prst="rect">
            <a:avLst/>
          </a:prstGeom>
          <a:noFill/>
          <a:ln/>
        </p:spPr>
        <p:txBody>
          <a:bodyPr wrap="square" lIns="0" tIns="0" rIns="0" bIns="0" rtlCol="0" anchor="ctr"/>
          <a:lstStyle/>
          <a:p>
            <a:pPr indent="0" marL="0">
              <a:buNone/>
            </a:pPr>
            <a:r>
              <a:rPr lang="en-US" sz="1700" b="1" dirty="0">
                <a:solidFill>
                  <a:srgbClr val="1C3141"/>
                </a:solidFill>
                <a:latin typeface="Calibri" pitchFamily="34" charset="0"/>
                <a:ea typeface="Calibri" pitchFamily="34" charset="-122"/>
                <a:cs typeface="Calibri" pitchFamily="34" charset="-120"/>
              </a:rPr>
              <a:t>Read</a:t>
            </a:r>
            <a:endParaRPr lang="en-US" sz="1700" dirty="0"/>
          </a:p>
        </p:txBody>
      </p:sp>
      <p:sp>
        <p:nvSpPr>
          <p:cNvPr id="8" name="Text 6"/>
          <p:cNvSpPr/>
          <p:nvPr/>
        </p:nvSpPr>
        <p:spPr>
          <a:xfrm>
            <a:off x="3246120" y="1764792"/>
            <a:ext cx="8321040" cy="777240"/>
          </a:xfrm>
          <a:prstGeom prst="rect">
            <a:avLst/>
          </a:prstGeom>
          <a:noFill/>
          <a:ln/>
        </p:spPr>
        <p:txBody>
          <a:bodyPr wrap="square" lIns="0" tIns="0" rIns="0" bIns="0" rtlCol="0" anchor="ctr"/>
          <a:lstStyle/>
          <a:p>
            <a:pPr indent="0" marL="0">
              <a:buNone/>
            </a:pPr>
            <a:r>
              <a:rPr lang="en-US" sz="1350" dirty="0">
                <a:solidFill>
                  <a:srgbClr val="6B7A85"/>
                </a:solidFill>
                <a:latin typeface="Calibri" pitchFamily="34" charset="0"/>
                <a:ea typeface="Calibri" pitchFamily="34" charset="-122"/>
                <a:cs typeface="Calibri" pitchFamily="34" charset="-120"/>
              </a:rPr>
              <a:t>A real CMS policy PDF becomes clean text with character offsets preserved.</a:t>
            </a:r>
            <a:endParaRPr lang="en-US" sz="1350" dirty="0"/>
          </a:p>
        </p:txBody>
      </p:sp>
      <p:sp>
        <p:nvSpPr>
          <p:cNvPr id="9" name="Shape 7"/>
          <p:cNvSpPr/>
          <p:nvPr/>
        </p:nvSpPr>
        <p:spPr>
          <a:xfrm>
            <a:off x="594360" y="2898648"/>
            <a:ext cx="457200" cy="457200"/>
          </a:xfrm>
          <a:prstGeom prst="ellipse">
            <a:avLst/>
          </a:prstGeom>
          <a:solidFill>
            <a:srgbClr val="1C3141"/>
          </a:solidFill>
          <a:ln/>
        </p:spPr>
      </p:sp>
      <p:sp>
        <p:nvSpPr>
          <p:cNvPr id="10" name="Text 8"/>
          <p:cNvSpPr/>
          <p:nvPr/>
        </p:nvSpPr>
        <p:spPr>
          <a:xfrm>
            <a:off x="594360" y="2898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280160" y="2862072"/>
            <a:ext cx="1920240" cy="365760"/>
          </a:xfrm>
          <a:prstGeom prst="rect">
            <a:avLst/>
          </a:prstGeom>
          <a:noFill/>
          <a:ln/>
        </p:spPr>
        <p:txBody>
          <a:bodyPr wrap="square" lIns="0" tIns="0" rIns="0" bIns="0" rtlCol="0" anchor="ctr"/>
          <a:lstStyle/>
          <a:p>
            <a:pPr indent="0" marL="0">
              <a:buNone/>
            </a:pPr>
            <a:r>
              <a:rPr lang="en-US" sz="1700" b="1" dirty="0">
                <a:solidFill>
                  <a:srgbClr val="1C3141"/>
                </a:solidFill>
                <a:latin typeface="Calibri" pitchFamily="34" charset="0"/>
                <a:ea typeface="Calibri" pitchFamily="34" charset="-122"/>
                <a:cs typeface="Calibri" pitchFamily="34" charset="-120"/>
              </a:rPr>
              <a:t>Convert</a:t>
            </a:r>
            <a:endParaRPr lang="en-US" sz="1700" dirty="0"/>
          </a:p>
        </p:txBody>
      </p:sp>
      <p:sp>
        <p:nvSpPr>
          <p:cNvPr id="12" name="Text 10"/>
          <p:cNvSpPr/>
          <p:nvPr/>
        </p:nvSpPr>
        <p:spPr>
          <a:xfrm>
            <a:off x="3246120" y="2843784"/>
            <a:ext cx="8321040" cy="777240"/>
          </a:xfrm>
          <a:prstGeom prst="rect">
            <a:avLst/>
          </a:prstGeom>
          <a:noFill/>
          <a:ln/>
        </p:spPr>
        <p:txBody>
          <a:bodyPr wrap="square" lIns="0" tIns="0" rIns="0" bIns="0" rtlCol="0" anchor="ctr"/>
          <a:lstStyle/>
          <a:p>
            <a:pPr indent="0" marL="0">
              <a:buNone/>
            </a:pPr>
            <a:r>
              <a:rPr lang="en-US" sz="1350" dirty="0">
                <a:solidFill>
                  <a:srgbClr val="6B7A85"/>
                </a:solidFill>
                <a:latin typeface="Calibri" pitchFamily="34" charset="0"/>
                <a:ea typeface="Calibri" pitchFamily="34" charset="-122"/>
                <a:cs typeface="Calibri" pitchFamily="34" charset="-120"/>
              </a:rPr>
              <a:t>A model emits rules in a fixed schema. Every rule quotes its source sentence, and the quote is verified by exact search.</a:t>
            </a:r>
            <a:endParaRPr lang="en-US" sz="1350" dirty="0"/>
          </a:p>
        </p:txBody>
      </p:sp>
      <p:sp>
        <p:nvSpPr>
          <p:cNvPr id="13" name="Shape 11"/>
          <p:cNvSpPr/>
          <p:nvPr/>
        </p:nvSpPr>
        <p:spPr>
          <a:xfrm>
            <a:off x="594360" y="3977640"/>
            <a:ext cx="457200" cy="457200"/>
          </a:xfrm>
          <a:prstGeom prst="ellipse">
            <a:avLst/>
          </a:prstGeom>
          <a:solidFill>
            <a:srgbClr val="1C3141"/>
          </a:solidFill>
          <a:ln/>
        </p:spPr>
      </p:sp>
      <p:sp>
        <p:nvSpPr>
          <p:cNvPr id="14" name="Text 12"/>
          <p:cNvSpPr/>
          <p:nvPr/>
        </p:nvSpPr>
        <p:spPr>
          <a:xfrm>
            <a:off x="594360" y="3977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280160" y="3941064"/>
            <a:ext cx="1920240" cy="365760"/>
          </a:xfrm>
          <a:prstGeom prst="rect">
            <a:avLst/>
          </a:prstGeom>
          <a:noFill/>
          <a:ln/>
        </p:spPr>
        <p:txBody>
          <a:bodyPr wrap="square" lIns="0" tIns="0" rIns="0" bIns="0" rtlCol="0" anchor="ctr"/>
          <a:lstStyle/>
          <a:p>
            <a:pPr indent="0" marL="0">
              <a:buNone/>
            </a:pPr>
            <a:r>
              <a:rPr lang="en-US" sz="1700" b="1" dirty="0">
                <a:solidFill>
                  <a:srgbClr val="1C3141"/>
                </a:solidFill>
                <a:latin typeface="Calibri" pitchFamily="34" charset="0"/>
                <a:ea typeface="Calibri" pitchFamily="34" charset="-122"/>
                <a:cs typeface="Calibri" pitchFamily="34" charset="-120"/>
              </a:rPr>
              <a:t>Adjudicate</a:t>
            </a:r>
            <a:endParaRPr lang="en-US" sz="1700" dirty="0"/>
          </a:p>
        </p:txBody>
      </p:sp>
      <p:sp>
        <p:nvSpPr>
          <p:cNvPr id="16" name="Text 14"/>
          <p:cNvSpPr/>
          <p:nvPr/>
        </p:nvSpPr>
        <p:spPr>
          <a:xfrm>
            <a:off x="3246120" y="3922776"/>
            <a:ext cx="8321040" cy="777240"/>
          </a:xfrm>
          <a:prstGeom prst="rect">
            <a:avLst/>
          </a:prstGeom>
          <a:noFill/>
          <a:ln/>
        </p:spPr>
        <p:txBody>
          <a:bodyPr wrap="square" lIns="0" tIns="0" rIns="0" bIns="0" rtlCol="0" anchor="ctr"/>
          <a:lstStyle/>
          <a:p>
            <a:pPr indent="0" marL="0">
              <a:buNone/>
            </a:pPr>
            <a:r>
              <a:rPr lang="en-US" sz="1350" dirty="0">
                <a:solidFill>
                  <a:srgbClr val="6B7A85"/>
                </a:solidFill>
                <a:latin typeface="Calibri" pitchFamily="34" charset="0"/>
                <a:ea typeface="Calibri" pitchFamily="34" charset="-122"/>
                <a:cs typeface="Calibri" pitchFamily="34" charset="-120"/>
              </a:rPr>
              <a:t>Rules compile to Python predicates and decide claims. No model in the decision path.</a:t>
            </a:r>
            <a:endParaRPr lang="en-US" sz="1350" dirty="0"/>
          </a:p>
        </p:txBody>
      </p:sp>
      <p:sp>
        <p:nvSpPr>
          <p:cNvPr id="17" name="Shape 15"/>
          <p:cNvSpPr/>
          <p:nvPr/>
        </p:nvSpPr>
        <p:spPr>
          <a:xfrm>
            <a:off x="594360" y="5056632"/>
            <a:ext cx="457200" cy="457200"/>
          </a:xfrm>
          <a:prstGeom prst="ellipse">
            <a:avLst/>
          </a:prstGeom>
          <a:solidFill>
            <a:srgbClr val="B4453A"/>
          </a:solidFill>
          <a:ln/>
        </p:spPr>
      </p:sp>
      <p:sp>
        <p:nvSpPr>
          <p:cNvPr id="18" name="Text 16"/>
          <p:cNvSpPr/>
          <p:nvPr/>
        </p:nvSpPr>
        <p:spPr>
          <a:xfrm>
            <a:off x="594360" y="50566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280160" y="5020056"/>
            <a:ext cx="1920240" cy="365760"/>
          </a:xfrm>
          <a:prstGeom prst="rect">
            <a:avLst/>
          </a:prstGeom>
          <a:noFill/>
          <a:ln/>
        </p:spPr>
        <p:txBody>
          <a:bodyPr wrap="square" lIns="0" tIns="0" rIns="0" bIns="0" rtlCol="0" anchor="ctr"/>
          <a:lstStyle/>
          <a:p>
            <a:pPr indent="0" marL="0">
              <a:buNone/>
            </a:pPr>
            <a:r>
              <a:rPr lang="en-US" sz="1700" b="1" dirty="0">
                <a:solidFill>
                  <a:srgbClr val="1C3141"/>
                </a:solidFill>
                <a:latin typeface="Calibri" pitchFamily="34" charset="0"/>
                <a:ea typeface="Calibri" pitchFamily="34" charset="-122"/>
                <a:cs typeface="Calibri" pitchFamily="34" charset="-120"/>
              </a:rPr>
              <a:t>Detect drift</a:t>
            </a:r>
            <a:endParaRPr lang="en-US" sz="1700" dirty="0"/>
          </a:p>
        </p:txBody>
      </p:sp>
      <p:sp>
        <p:nvSpPr>
          <p:cNvPr id="20" name="Text 18"/>
          <p:cNvSpPr/>
          <p:nvPr/>
        </p:nvSpPr>
        <p:spPr>
          <a:xfrm>
            <a:off x="3246120" y="5001768"/>
            <a:ext cx="8321040" cy="777240"/>
          </a:xfrm>
          <a:prstGeom prst="rect">
            <a:avLst/>
          </a:prstGeom>
          <a:noFill/>
          <a:ln/>
        </p:spPr>
        <p:txBody>
          <a:bodyPr wrap="square" lIns="0" tIns="0" rIns="0" bIns="0" rtlCol="0" anchor="ctr"/>
          <a:lstStyle/>
          <a:p>
            <a:pPr indent="0" marL="0">
              <a:buNone/>
            </a:pPr>
            <a:r>
              <a:rPr lang="en-US" sz="1350" dirty="0">
                <a:solidFill>
                  <a:srgbClr val="6B7A85"/>
                </a:solidFill>
                <a:latin typeface="Calibri" pitchFamily="34" charset="0"/>
                <a:ea typeface="Calibri" pitchFamily="34" charset="-122"/>
                <a:cs typeface="Calibri" pitchFamily="34" charset="-120"/>
              </a:rPr>
              <a:t>When the policy is revised, each existing rule is re-checked against it and priced in claim decisions.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THE DATA IS REAL</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Three documented changes, taken from CMS itself</a:t>
            </a:r>
            <a:endParaRPr lang="en-US" sz="3200" dirty="0"/>
          </a:p>
        </p:txBody>
      </p:sp>
      <p:sp>
        <p:nvSpPr>
          <p:cNvPr id="5" name="Text 3"/>
          <p:cNvSpPr/>
          <p:nvPr/>
        </p:nvSpPr>
        <p:spPr>
          <a:xfrm>
            <a:off x="594360" y="1554480"/>
            <a:ext cx="10972800" cy="457200"/>
          </a:xfrm>
          <a:prstGeom prst="rect">
            <a:avLst/>
          </a:prstGeom>
          <a:noFill/>
          <a:ln/>
        </p:spPr>
        <p:txBody>
          <a:bodyPr wrap="square" lIns="0" tIns="0" rIns="0" bIns="0" rtlCol="0" anchor="ctr"/>
          <a:lstStyle/>
          <a:p>
            <a:pPr indent="0" marL="0">
              <a:buNone/>
            </a:pPr>
            <a:r>
              <a:rPr lang="en-US" sz="1400" dirty="0">
                <a:solidFill>
                  <a:srgbClr val="6B7A85"/>
                </a:solidFill>
                <a:latin typeface="Calibri" pitchFamily="34" charset="0"/>
                <a:ea typeface="Calibri" pitchFamily="34" charset="-122"/>
                <a:cs typeface="Calibri" pitchFamily="34" charset="-120"/>
              </a:rPr>
              <a:t>CMS publishes a revision history inside every coverage determination. That is our answer key, which means nothing here was hand-labelled by me.</a:t>
            </a:r>
            <a:endParaRPr lang="en-US" sz="1400" dirty="0"/>
          </a:p>
        </p:txBody>
      </p:sp>
      <p:sp>
        <p:nvSpPr>
          <p:cNvPr id="6" name="Shape 4"/>
          <p:cNvSpPr/>
          <p:nvPr/>
        </p:nvSpPr>
        <p:spPr>
          <a:xfrm>
            <a:off x="594360" y="2194560"/>
            <a:ext cx="10972800" cy="603504"/>
          </a:xfrm>
          <a:prstGeom prst="roundRect">
            <a:avLst>
              <a:gd name="adj" fmla="val 6061"/>
            </a:avLst>
          </a:prstGeom>
          <a:solidFill>
            <a:srgbClr val="F1F4F6"/>
          </a:solidFill>
          <a:ln w="9525">
            <a:solidFill>
              <a:srgbClr val="D8DEE3"/>
            </a:solidFill>
            <a:prstDash val="solid"/>
          </a:ln>
        </p:spPr>
      </p:sp>
      <p:sp>
        <p:nvSpPr>
          <p:cNvPr id="7" name="Text 5"/>
          <p:cNvSpPr/>
          <p:nvPr/>
        </p:nvSpPr>
        <p:spPr>
          <a:xfrm>
            <a:off x="795528" y="2350008"/>
            <a:ext cx="457200" cy="292608"/>
          </a:xfrm>
          <a:prstGeom prst="rect">
            <a:avLst/>
          </a:prstGeom>
          <a:noFill/>
          <a:ln/>
        </p:spPr>
        <p:txBody>
          <a:bodyPr wrap="square" lIns="0" tIns="0" rIns="0" bIns="0" rtlCol="0" anchor="ctr"/>
          <a:lstStyle/>
          <a:p>
            <a:pPr indent="0" marL="0">
              <a:buNone/>
            </a:pPr>
            <a:r>
              <a:rPr lang="en-US" sz="1200" b="1" dirty="0">
                <a:solidFill>
                  <a:srgbClr val="B4453A"/>
                </a:solidFill>
                <a:latin typeface="Courier New" pitchFamily="34" charset="0"/>
                <a:ea typeface="Courier New" pitchFamily="34" charset="-122"/>
                <a:cs typeface="Courier New" pitchFamily="34" charset="-120"/>
              </a:rPr>
              <a:t>R1</a:t>
            </a:r>
            <a:endParaRPr lang="en-US" sz="1200" dirty="0"/>
          </a:p>
        </p:txBody>
      </p:sp>
      <p:sp>
        <p:nvSpPr>
          <p:cNvPr id="8" name="Text 6"/>
          <p:cNvSpPr/>
          <p:nvPr/>
        </p:nvSpPr>
        <p:spPr>
          <a:xfrm>
            <a:off x="1371600" y="2331720"/>
            <a:ext cx="6949440" cy="347472"/>
          </a:xfrm>
          <a:prstGeom prst="rect">
            <a:avLst/>
          </a:prstGeom>
          <a:noFill/>
          <a:ln/>
        </p:spPr>
        <p:txBody>
          <a:bodyPr wrap="square" lIns="0" tIns="0" rIns="0" bIns="0" rtlCol="0" anchor="ctr"/>
          <a:lstStyle/>
          <a:p>
            <a:pPr indent="0" marL="0">
              <a:buNone/>
            </a:pPr>
            <a:r>
              <a:rPr lang="en-US" sz="1350" dirty="0">
                <a:solidFill>
                  <a:srgbClr val="1C3141"/>
                </a:solidFill>
                <a:latin typeface="Calibri" pitchFamily="34" charset="0"/>
                <a:ea typeface="Calibri" pitchFamily="34" charset="-122"/>
                <a:cs typeface="Calibri" pitchFamily="34" charset="-120"/>
              </a:rPr>
              <a:t>Removed: four or more times per day BGM testing as a prerequisite</a:t>
            </a:r>
            <a:endParaRPr lang="en-US" sz="1350" dirty="0"/>
          </a:p>
        </p:txBody>
      </p:sp>
      <p:sp>
        <p:nvSpPr>
          <p:cNvPr id="9" name="Text 7"/>
          <p:cNvSpPr/>
          <p:nvPr/>
        </p:nvSpPr>
        <p:spPr>
          <a:xfrm>
            <a:off x="9281160" y="2350008"/>
            <a:ext cx="2103120" cy="292608"/>
          </a:xfrm>
          <a:prstGeom prst="rect">
            <a:avLst/>
          </a:prstGeom>
          <a:noFill/>
          <a:ln/>
        </p:spPr>
        <p:txBody>
          <a:bodyPr wrap="square" lIns="0" tIns="0" rIns="0" bIns="0" rtlCol="0" anchor="ctr"/>
          <a:lstStyle/>
          <a:p>
            <a:pPr algn="r" indent="0" marL="0">
              <a:buNone/>
            </a:pPr>
            <a:r>
              <a:rPr lang="en-US" sz="1150" b="1" dirty="0">
                <a:solidFill>
                  <a:srgbClr val="B4453A"/>
                </a:solidFill>
                <a:latin typeface="Courier New" pitchFamily="34" charset="0"/>
                <a:ea typeface="Courier New" pitchFamily="34" charset="-122"/>
                <a:cs typeface="Courier New" pitchFamily="34" charset="-120"/>
              </a:rPr>
              <a:t>CONTRADICTED</a:t>
            </a:r>
            <a:endParaRPr lang="en-US" sz="1150" dirty="0"/>
          </a:p>
        </p:txBody>
      </p:sp>
      <p:sp>
        <p:nvSpPr>
          <p:cNvPr id="10" name="Shape 8"/>
          <p:cNvSpPr/>
          <p:nvPr/>
        </p:nvSpPr>
        <p:spPr>
          <a:xfrm>
            <a:off x="594360" y="2907792"/>
            <a:ext cx="10972800" cy="603504"/>
          </a:xfrm>
          <a:prstGeom prst="roundRect">
            <a:avLst>
              <a:gd name="adj" fmla="val 6061"/>
            </a:avLst>
          </a:prstGeom>
          <a:solidFill>
            <a:srgbClr val="F1F4F6"/>
          </a:solidFill>
          <a:ln w="9525">
            <a:solidFill>
              <a:srgbClr val="D8DEE3"/>
            </a:solidFill>
            <a:prstDash val="solid"/>
          </a:ln>
        </p:spPr>
      </p:sp>
      <p:sp>
        <p:nvSpPr>
          <p:cNvPr id="11" name="Text 9"/>
          <p:cNvSpPr/>
          <p:nvPr/>
        </p:nvSpPr>
        <p:spPr>
          <a:xfrm>
            <a:off x="795528" y="3063240"/>
            <a:ext cx="457200" cy="292608"/>
          </a:xfrm>
          <a:prstGeom prst="rect">
            <a:avLst/>
          </a:prstGeom>
          <a:noFill/>
          <a:ln/>
        </p:spPr>
        <p:txBody>
          <a:bodyPr wrap="square" lIns="0" tIns="0" rIns="0" bIns="0" rtlCol="0" anchor="ctr"/>
          <a:lstStyle/>
          <a:p>
            <a:pPr indent="0" marL="0">
              <a:buNone/>
            </a:pPr>
            <a:r>
              <a:rPr lang="en-US" sz="1200" b="1" dirty="0">
                <a:solidFill>
                  <a:srgbClr val="9A7420"/>
                </a:solidFill>
                <a:latin typeface="Courier New" pitchFamily="34" charset="0"/>
                <a:ea typeface="Courier New" pitchFamily="34" charset="-122"/>
                <a:cs typeface="Courier New" pitchFamily="34" charset="-120"/>
              </a:rPr>
              <a:t>R2</a:t>
            </a:r>
            <a:endParaRPr lang="en-US" sz="1200" dirty="0"/>
          </a:p>
        </p:txBody>
      </p:sp>
      <p:sp>
        <p:nvSpPr>
          <p:cNvPr id="12" name="Text 10"/>
          <p:cNvSpPr/>
          <p:nvPr/>
        </p:nvSpPr>
        <p:spPr>
          <a:xfrm>
            <a:off x="1371600" y="3044952"/>
            <a:ext cx="6949440" cy="347472"/>
          </a:xfrm>
          <a:prstGeom prst="rect">
            <a:avLst/>
          </a:prstGeom>
          <a:noFill/>
          <a:ln/>
        </p:spPr>
        <p:txBody>
          <a:bodyPr wrap="square" lIns="0" tIns="0" rIns="0" bIns="0" rtlCol="0" anchor="ctr"/>
          <a:lstStyle/>
          <a:p>
            <a:pPr indent="0" marL="0">
              <a:buNone/>
            </a:pPr>
            <a:r>
              <a:rPr lang="en-US" sz="1350" dirty="0">
                <a:solidFill>
                  <a:srgbClr val="1C3141"/>
                </a:solidFill>
                <a:latin typeface="Calibri" pitchFamily="34" charset="0"/>
                <a:ea typeface="Calibri" pitchFamily="34" charset="-122"/>
                <a:cs typeface="Calibri" pitchFamily="34" charset="-120"/>
              </a:rPr>
              <a:t>Revised: "injections" → "administrations" of insulin</a:t>
            </a:r>
            <a:endParaRPr lang="en-US" sz="1350" dirty="0"/>
          </a:p>
        </p:txBody>
      </p:sp>
      <p:sp>
        <p:nvSpPr>
          <p:cNvPr id="13" name="Text 11"/>
          <p:cNvSpPr/>
          <p:nvPr/>
        </p:nvSpPr>
        <p:spPr>
          <a:xfrm>
            <a:off x="9281160" y="3063240"/>
            <a:ext cx="2103120" cy="292608"/>
          </a:xfrm>
          <a:prstGeom prst="rect">
            <a:avLst/>
          </a:prstGeom>
          <a:noFill/>
          <a:ln/>
        </p:spPr>
        <p:txBody>
          <a:bodyPr wrap="square" lIns="0" tIns="0" rIns="0" bIns="0" rtlCol="0" anchor="ctr"/>
          <a:lstStyle/>
          <a:p>
            <a:pPr algn="r" indent="0" marL="0">
              <a:buNone/>
            </a:pPr>
            <a:r>
              <a:rPr lang="en-US" sz="1150" b="1" dirty="0">
                <a:solidFill>
                  <a:srgbClr val="9A7420"/>
                </a:solidFill>
                <a:latin typeface="Courier New" pitchFamily="34" charset="0"/>
                <a:ea typeface="Courier New" pitchFamily="34" charset="-122"/>
                <a:cs typeface="Courier New" pitchFamily="34" charset="-120"/>
              </a:rPr>
              <a:t>MODIFIED</a:t>
            </a:r>
            <a:endParaRPr lang="en-US" sz="1150" dirty="0"/>
          </a:p>
        </p:txBody>
      </p:sp>
      <p:sp>
        <p:nvSpPr>
          <p:cNvPr id="14" name="Shape 12"/>
          <p:cNvSpPr/>
          <p:nvPr/>
        </p:nvSpPr>
        <p:spPr>
          <a:xfrm>
            <a:off x="594360" y="3621024"/>
            <a:ext cx="10972800" cy="603504"/>
          </a:xfrm>
          <a:prstGeom prst="roundRect">
            <a:avLst>
              <a:gd name="adj" fmla="val 6061"/>
            </a:avLst>
          </a:prstGeom>
          <a:solidFill>
            <a:srgbClr val="F1F4F6"/>
          </a:solidFill>
          <a:ln w="9525">
            <a:solidFill>
              <a:srgbClr val="D8DEE3"/>
            </a:solidFill>
            <a:prstDash val="solid"/>
          </a:ln>
        </p:spPr>
      </p:sp>
      <p:sp>
        <p:nvSpPr>
          <p:cNvPr id="15" name="Text 13"/>
          <p:cNvSpPr/>
          <p:nvPr/>
        </p:nvSpPr>
        <p:spPr>
          <a:xfrm>
            <a:off x="795528" y="3776472"/>
            <a:ext cx="457200" cy="292608"/>
          </a:xfrm>
          <a:prstGeom prst="rect">
            <a:avLst/>
          </a:prstGeom>
          <a:noFill/>
          <a:ln/>
        </p:spPr>
        <p:txBody>
          <a:bodyPr wrap="square" lIns="0" tIns="0" rIns="0" bIns="0" rtlCol="0" anchor="ctr"/>
          <a:lstStyle/>
          <a:p>
            <a:pPr indent="0" marL="0">
              <a:buNone/>
            </a:pPr>
            <a:r>
              <a:rPr lang="en-US" sz="1200" b="1" dirty="0">
                <a:solidFill>
                  <a:srgbClr val="9A7420"/>
                </a:solidFill>
                <a:latin typeface="Courier New" pitchFamily="34" charset="0"/>
                <a:ea typeface="Courier New" pitchFamily="34" charset="-122"/>
                <a:cs typeface="Courier New" pitchFamily="34" charset="-120"/>
              </a:rPr>
              <a:t>R3</a:t>
            </a:r>
            <a:endParaRPr lang="en-US" sz="1200" dirty="0"/>
          </a:p>
        </p:txBody>
      </p:sp>
      <p:sp>
        <p:nvSpPr>
          <p:cNvPr id="16" name="Text 14"/>
          <p:cNvSpPr/>
          <p:nvPr/>
        </p:nvSpPr>
        <p:spPr>
          <a:xfrm>
            <a:off x="1371600" y="3758184"/>
            <a:ext cx="6949440" cy="347472"/>
          </a:xfrm>
          <a:prstGeom prst="rect">
            <a:avLst/>
          </a:prstGeom>
          <a:noFill/>
          <a:ln/>
        </p:spPr>
        <p:txBody>
          <a:bodyPr wrap="square" lIns="0" tIns="0" rIns="0" bIns="0" rtlCol="0" anchor="ctr"/>
          <a:lstStyle/>
          <a:p>
            <a:pPr indent="0" marL="0">
              <a:buNone/>
            </a:pPr>
            <a:r>
              <a:rPr lang="en-US" sz="1350" dirty="0">
                <a:solidFill>
                  <a:srgbClr val="1C3141"/>
                </a:solidFill>
                <a:latin typeface="Calibri" pitchFamily="34" charset="0"/>
                <a:ea typeface="Calibri" pitchFamily="34" charset="-122"/>
                <a:cs typeface="Calibri" pitchFamily="34" charset="-120"/>
              </a:rPr>
              <a:t>Removed: "Medicare-covered" from the CSII pump criterion</a:t>
            </a:r>
            <a:endParaRPr lang="en-US" sz="1350" dirty="0"/>
          </a:p>
        </p:txBody>
      </p:sp>
      <p:sp>
        <p:nvSpPr>
          <p:cNvPr id="17" name="Text 15"/>
          <p:cNvSpPr/>
          <p:nvPr/>
        </p:nvSpPr>
        <p:spPr>
          <a:xfrm>
            <a:off x="9281160" y="3776472"/>
            <a:ext cx="2103120" cy="292608"/>
          </a:xfrm>
          <a:prstGeom prst="rect">
            <a:avLst/>
          </a:prstGeom>
          <a:noFill/>
          <a:ln/>
        </p:spPr>
        <p:txBody>
          <a:bodyPr wrap="square" lIns="0" tIns="0" rIns="0" bIns="0" rtlCol="0" anchor="ctr"/>
          <a:lstStyle/>
          <a:p>
            <a:pPr algn="r" indent="0" marL="0">
              <a:buNone/>
            </a:pPr>
            <a:r>
              <a:rPr lang="en-US" sz="1150" b="1" dirty="0">
                <a:solidFill>
                  <a:srgbClr val="9A7420"/>
                </a:solidFill>
                <a:latin typeface="Courier New" pitchFamily="34" charset="0"/>
                <a:ea typeface="Courier New" pitchFamily="34" charset="-122"/>
                <a:cs typeface="Courier New" pitchFamily="34" charset="-120"/>
              </a:rPr>
              <a:t>MODIFIED</a:t>
            </a:r>
            <a:endParaRPr lang="en-US" sz="1150" dirty="0"/>
          </a:p>
        </p:txBody>
      </p:sp>
      <p:sp>
        <p:nvSpPr>
          <p:cNvPr id="18" name="Shape 16"/>
          <p:cNvSpPr/>
          <p:nvPr/>
        </p:nvSpPr>
        <p:spPr>
          <a:xfrm>
            <a:off x="594360" y="4334256"/>
            <a:ext cx="10972800" cy="603504"/>
          </a:xfrm>
          <a:prstGeom prst="roundRect">
            <a:avLst>
              <a:gd name="adj" fmla="val 6061"/>
            </a:avLst>
          </a:prstGeom>
          <a:solidFill>
            <a:srgbClr val="EDF3EF"/>
          </a:solidFill>
          <a:ln w="9525">
            <a:solidFill>
              <a:srgbClr val="D8DEE3"/>
            </a:solidFill>
            <a:prstDash val="solid"/>
          </a:ln>
        </p:spPr>
      </p:sp>
      <p:sp>
        <p:nvSpPr>
          <p:cNvPr id="19" name="Text 17"/>
          <p:cNvSpPr/>
          <p:nvPr/>
        </p:nvSpPr>
        <p:spPr>
          <a:xfrm>
            <a:off x="795528" y="4489704"/>
            <a:ext cx="457200" cy="292608"/>
          </a:xfrm>
          <a:prstGeom prst="rect">
            <a:avLst/>
          </a:prstGeom>
          <a:noFill/>
          <a:ln/>
        </p:spPr>
        <p:txBody>
          <a:bodyPr wrap="square" lIns="0" tIns="0" rIns="0" bIns="0" rtlCol="0" anchor="ctr"/>
          <a:lstStyle/>
          <a:p>
            <a:pPr indent="0" marL="0">
              <a:buNone/>
            </a:pPr>
            <a:r>
              <a:rPr lang="en-US" sz="1200" b="1" dirty="0">
                <a:solidFill>
                  <a:srgbClr val="3E7A5E"/>
                </a:solidFill>
                <a:latin typeface="Courier New" pitchFamily="34" charset="0"/>
                <a:ea typeface="Courier New" pitchFamily="34" charset="-122"/>
                <a:cs typeface="Courier New" pitchFamily="34" charset="-120"/>
              </a:rPr>
              <a:t>—</a:t>
            </a:r>
            <a:endParaRPr lang="en-US" sz="1200" dirty="0"/>
          </a:p>
        </p:txBody>
      </p:sp>
      <p:sp>
        <p:nvSpPr>
          <p:cNvPr id="20" name="Text 18"/>
          <p:cNvSpPr/>
          <p:nvPr/>
        </p:nvSpPr>
        <p:spPr>
          <a:xfrm>
            <a:off x="1371600" y="4471416"/>
            <a:ext cx="6949440" cy="347472"/>
          </a:xfrm>
          <a:prstGeom prst="rect">
            <a:avLst/>
          </a:prstGeom>
          <a:noFill/>
          <a:ln/>
        </p:spPr>
        <p:txBody>
          <a:bodyPr wrap="square" lIns="0" tIns="0" rIns="0" bIns="0" rtlCol="0" anchor="ctr"/>
          <a:lstStyle/>
          <a:p>
            <a:pPr indent="0" marL="0">
              <a:buNone/>
            </a:pPr>
            <a:r>
              <a:rPr lang="en-US" sz="1350" dirty="0">
                <a:solidFill>
                  <a:srgbClr val="1C3141"/>
                </a:solidFill>
                <a:latin typeface="Calibri" pitchFamily="34" charset="0"/>
                <a:ea typeface="Calibri" pitchFamily="34" charset="-122"/>
                <a:cs typeface="Calibri" pitchFamily="34" charset="-120"/>
              </a:rPr>
              <a:t>List renumbered 1–6 → 1–5, cross-reference "(1-4)" → "(1-3)"</a:t>
            </a:r>
            <a:endParaRPr lang="en-US" sz="1350" dirty="0"/>
          </a:p>
        </p:txBody>
      </p:sp>
      <p:sp>
        <p:nvSpPr>
          <p:cNvPr id="21" name="Text 19"/>
          <p:cNvSpPr/>
          <p:nvPr/>
        </p:nvSpPr>
        <p:spPr>
          <a:xfrm>
            <a:off x="9281160" y="4489704"/>
            <a:ext cx="2103120" cy="292608"/>
          </a:xfrm>
          <a:prstGeom prst="rect">
            <a:avLst/>
          </a:prstGeom>
          <a:noFill/>
          <a:ln/>
        </p:spPr>
        <p:txBody>
          <a:bodyPr wrap="square" lIns="0" tIns="0" rIns="0" bIns="0" rtlCol="0" anchor="ctr"/>
          <a:lstStyle/>
          <a:p>
            <a:pPr algn="r" indent="0" marL="0">
              <a:buNone/>
            </a:pPr>
            <a:r>
              <a:rPr lang="en-US" sz="1150" b="1" dirty="0">
                <a:solidFill>
                  <a:srgbClr val="3E7A5E"/>
                </a:solidFill>
                <a:latin typeface="Courier New" pitchFamily="34" charset="0"/>
                <a:ea typeface="Courier New" pitchFamily="34" charset="-122"/>
                <a:cs typeface="Courier New" pitchFamily="34" charset="-120"/>
              </a:rPr>
              <a:t>MUST NOT FLAG</a:t>
            </a:r>
            <a:endParaRPr lang="en-US" sz="1150" dirty="0"/>
          </a:p>
        </p:txBody>
      </p:sp>
      <p:sp>
        <p:nvSpPr>
          <p:cNvPr id="22" name="Text 20"/>
          <p:cNvSpPr/>
          <p:nvPr/>
        </p:nvSpPr>
        <p:spPr>
          <a:xfrm>
            <a:off x="594360" y="5138928"/>
            <a:ext cx="10972800" cy="365760"/>
          </a:xfrm>
          <a:prstGeom prst="rect">
            <a:avLst/>
          </a:prstGeom>
          <a:noFill/>
          <a:ln/>
        </p:spPr>
        <p:txBody>
          <a:bodyPr wrap="square" lIns="0" tIns="0" rIns="0" bIns="0" rtlCol="0" anchor="ctr"/>
          <a:lstStyle/>
          <a:p>
            <a:pPr indent="0" marL="0">
              <a:buNone/>
            </a:pPr>
            <a:r>
              <a:rPr lang="en-US" sz="1300" i="1" dirty="0">
                <a:solidFill>
                  <a:srgbClr val="6B7A85"/>
                </a:solidFill>
                <a:latin typeface="Calibri" pitchFamily="34" charset="0"/>
                <a:ea typeface="Calibri" pitchFamily="34" charset="-122"/>
                <a:cs typeface="Calibri" pitchFamily="34" charset="-120"/>
              </a:rPr>
              <a:t>The fourth row is a trap the document set handed us: the sentence changed, the requirement did not.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3141"/>
        </a:solidFill>
      </p:bgPr>
    </p:bg>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B4453A"/>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RESULTS</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What it found</a:t>
            </a:r>
            <a:endParaRPr lang="en-US" sz="3200" dirty="0"/>
          </a:p>
        </p:txBody>
      </p:sp>
      <p:sp>
        <p:nvSpPr>
          <p:cNvPr id="5" name="Shape 3"/>
          <p:cNvSpPr/>
          <p:nvPr/>
        </p:nvSpPr>
        <p:spPr>
          <a:xfrm>
            <a:off x="594360" y="2011680"/>
            <a:ext cx="2606040" cy="1600200"/>
          </a:xfrm>
          <a:prstGeom prst="roundRect">
            <a:avLst>
              <a:gd name="adj" fmla="val 2286"/>
            </a:avLst>
          </a:prstGeom>
          <a:solidFill>
            <a:srgbClr val="253F52"/>
          </a:solidFill>
          <a:ln w="9525">
            <a:solidFill>
              <a:srgbClr val="38596E"/>
            </a:solidFill>
            <a:prstDash val="solid"/>
          </a:ln>
        </p:spPr>
      </p:sp>
      <p:sp>
        <p:nvSpPr>
          <p:cNvPr id="6" name="Text 4"/>
          <p:cNvSpPr/>
          <p:nvPr/>
        </p:nvSpPr>
        <p:spPr>
          <a:xfrm>
            <a:off x="777240" y="2286000"/>
            <a:ext cx="2240280" cy="731520"/>
          </a:xfrm>
          <a:prstGeom prst="rect">
            <a:avLst/>
          </a:prstGeom>
          <a:noFill/>
          <a:ln/>
        </p:spPr>
        <p:txBody>
          <a:bodyPr wrap="square" lIns="0" tIns="0" rIns="0" bIns="0" rtlCol="0" anchor="ctr"/>
          <a:lstStyle/>
          <a:p>
            <a:pPr indent="0" marL="0">
              <a:buNone/>
            </a:pPr>
            <a:r>
              <a:rPr lang="en-US" sz="4000" b="1" dirty="0">
                <a:solidFill>
                  <a:srgbClr val="3E7A5E"/>
                </a:solidFill>
                <a:latin typeface="Calibri" pitchFamily="34" charset="0"/>
                <a:ea typeface="Calibri" pitchFamily="34" charset="-122"/>
                <a:cs typeface="Calibri" pitchFamily="34" charset="-120"/>
              </a:rPr>
              <a:t>3 / 3</a:t>
            </a:r>
            <a:endParaRPr lang="en-US" sz="4000" dirty="0"/>
          </a:p>
        </p:txBody>
      </p:sp>
      <p:sp>
        <p:nvSpPr>
          <p:cNvPr id="7" name="Text 5"/>
          <p:cNvSpPr/>
          <p:nvPr/>
        </p:nvSpPr>
        <p:spPr>
          <a:xfrm>
            <a:off x="777240" y="3035808"/>
            <a:ext cx="2240280" cy="502920"/>
          </a:xfrm>
          <a:prstGeom prst="rect">
            <a:avLst/>
          </a:prstGeom>
          <a:noFill/>
          <a:ln/>
        </p:spPr>
        <p:txBody>
          <a:bodyPr wrap="square" lIns="0" tIns="0" rIns="0" bIns="0" rtlCol="0" anchor="ctr"/>
          <a:lstStyle/>
          <a:p>
            <a:pPr indent="0" marL="0">
              <a:buNone/>
            </a:pPr>
            <a:r>
              <a:rPr lang="en-US" sz="1250" dirty="0">
                <a:solidFill>
                  <a:srgbClr val="AFC0CC"/>
                </a:solidFill>
                <a:latin typeface="Calibri" pitchFamily="34" charset="0"/>
                <a:ea typeface="Calibri" pitchFamily="34" charset="-122"/>
                <a:cs typeface="Calibri" pitchFamily="34" charset="-120"/>
              </a:rPr>
              <a:t>documented changes caught</a:t>
            </a:r>
            <a:endParaRPr lang="en-US" sz="1250" dirty="0"/>
          </a:p>
        </p:txBody>
      </p:sp>
      <p:sp>
        <p:nvSpPr>
          <p:cNvPr id="8" name="Shape 6"/>
          <p:cNvSpPr/>
          <p:nvPr/>
        </p:nvSpPr>
        <p:spPr>
          <a:xfrm>
            <a:off x="3383280" y="2011680"/>
            <a:ext cx="2606040" cy="1600200"/>
          </a:xfrm>
          <a:prstGeom prst="roundRect">
            <a:avLst>
              <a:gd name="adj" fmla="val 2286"/>
            </a:avLst>
          </a:prstGeom>
          <a:solidFill>
            <a:srgbClr val="253F52"/>
          </a:solidFill>
          <a:ln w="9525">
            <a:solidFill>
              <a:srgbClr val="38596E"/>
            </a:solidFill>
            <a:prstDash val="solid"/>
          </a:ln>
        </p:spPr>
      </p:sp>
      <p:sp>
        <p:nvSpPr>
          <p:cNvPr id="9" name="Text 7"/>
          <p:cNvSpPr/>
          <p:nvPr/>
        </p:nvSpPr>
        <p:spPr>
          <a:xfrm>
            <a:off x="3566160" y="2286000"/>
            <a:ext cx="2240280" cy="731520"/>
          </a:xfrm>
          <a:prstGeom prst="rect">
            <a:avLst/>
          </a:prstGeom>
          <a:noFill/>
          <a:ln/>
        </p:spPr>
        <p:txBody>
          <a:bodyPr wrap="square" lIns="0" tIns="0" rIns="0" bIns="0" rtlCol="0" anchor="ctr"/>
          <a:lstStyle/>
          <a:p>
            <a:pPr indent="0" marL="0">
              <a:buNone/>
            </a:pPr>
            <a:r>
              <a:rPr lang="en-US" sz="4000" b="1" dirty="0">
                <a:solidFill>
                  <a:srgbClr val="3E7A5E"/>
                </a:solidFill>
                <a:latin typeface="Calibri" pitchFamily="34" charset="0"/>
                <a:ea typeface="Calibri" pitchFamily="34" charset="-122"/>
                <a:cs typeface="Calibri" pitchFamily="34" charset="-120"/>
              </a:rPr>
              <a:t>0</a:t>
            </a:r>
            <a:endParaRPr lang="en-US" sz="4000" dirty="0"/>
          </a:p>
        </p:txBody>
      </p:sp>
      <p:sp>
        <p:nvSpPr>
          <p:cNvPr id="10" name="Text 8"/>
          <p:cNvSpPr/>
          <p:nvPr/>
        </p:nvSpPr>
        <p:spPr>
          <a:xfrm>
            <a:off x="3566160" y="3035808"/>
            <a:ext cx="2240280" cy="502920"/>
          </a:xfrm>
          <a:prstGeom prst="rect">
            <a:avLst/>
          </a:prstGeom>
          <a:noFill/>
          <a:ln/>
        </p:spPr>
        <p:txBody>
          <a:bodyPr wrap="square" lIns="0" tIns="0" rIns="0" bIns="0" rtlCol="0" anchor="ctr"/>
          <a:lstStyle/>
          <a:p>
            <a:pPr indent="0" marL="0">
              <a:buNone/>
            </a:pPr>
            <a:r>
              <a:rPr lang="en-US" sz="1250" dirty="0">
                <a:solidFill>
                  <a:srgbClr val="AFC0CC"/>
                </a:solidFill>
                <a:latin typeface="Calibri" pitchFamily="34" charset="0"/>
                <a:ea typeface="Calibri" pitchFamily="34" charset="-122"/>
                <a:cs typeface="Calibri" pitchFamily="34" charset="-120"/>
              </a:rPr>
              <a:t>false alarms</a:t>
            </a:r>
            <a:endParaRPr lang="en-US" sz="1250" dirty="0"/>
          </a:p>
        </p:txBody>
      </p:sp>
      <p:sp>
        <p:nvSpPr>
          <p:cNvPr id="11" name="Shape 9"/>
          <p:cNvSpPr/>
          <p:nvPr/>
        </p:nvSpPr>
        <p:spPr>
          <a:xfrm>
            <a:off x="6172200" y="2011680"/>
            <a:ext cx="2606040" cy="1600200"/>
          </a:xfrm>
          <a:prstGeom prst="roundRect">
            <a:avLst>
              <a:gd name="adj" fmla="val 2286"/>
            </a:avLst>
          </a:prstGeom>
          <a:solidFill>
            <a:srgbClr val="253F52"/>
          </a:solidFill>
          <a:ln w="9525">
            <a:solidFill>
              <a:srgbClr val="38596E"/>
            </a:solidFill>
            <a:prstDash val="solid"/>
          </a:ln>
        </p:spPr>
      </p:sp>
      <p:sp>
        <p:nvSpPr>
          <p:cNvPr id="12" name="Text 10"/>
          <p:cNvSpPr/>
          <p:nvPr/>
        </p:nvSpPr>
        <p:spPr>
          <a:xfrm>
            <a:off x="6355080" y="2286000"/>
            <a:ext cx="2240280" cy="731520"/>
          </a:xfrm>
          <a:prstGeom prst="rect">
            <a:avLst/>
          </a:prstGeom>
          <a:noFill/>
          <a:ln/>
        </p:spPr>
        <p:txBody>
          <a:bodyPr wrap="square" lIns="0" tIns="0" rIns="0" bIns="0" rtlCol="0" anchor="ctr"/>
          <a:lstStyle/>
          <a:p>
            <a:pPr indent="0" marL="0">
              <a:buNone/>
            </a:pPr>
            <a:r>
              <a:rPr lang="en-US" sz="4000" b="1" dirty="0">
                <a:solidFill>
                  <a:srgbClr val="3E7A5E"/>
                </a:solidFill>
                <a:latin typeface="Calibri" pitchFamily="34" charset="0"/>
                <a:ea typeface="Calibri" pitchFamily="34" charset="-122"/>
                <a:cs typeface="Calibri" pitchFamily="34" charset="-120"/>
              </a:rPr>
              <a:t>1 / 1</a:t>
            </a:r>
            <a:endParaRPr lang="en-US" sz="4000" dirty="0"/>
          </a:p>
        </p:txBody>
      </p:sp>
      <p:sp>
        <p:nvSpPr>
          <p:cNvPr id="13" name="Text 11"/>
          <p:cNvSpPr/>
          <p:nvPr/>
        </p:nvSpPr>
        <p:spPr>
          <a:xfrm>
            <a:off x="6355080" y="3035808"/>
            <a:ext cx="2240280" cy="502920"/>
          </a:xfrm>
          <a:prstGeom prst="rect">
            <a:avLst/>
          </a:prstGeom>
          <a:noFill/>
          <a:ln/>
        </p:spPr>
        <p:txBody>
          <a:bodyPr wrap="square" lIns="0" tIns="0" rIns="0" bIns="0" rtlCol="0" anchor="ctr"/>
          <a:lstStyle/>
          <a:p>
            <a:pPr indent="0" marL="0">
              <a:buNone/>
            </a:pPr>
            <a:r>
              <a:rPr lang="en-US" sz="1250" dirty="0">
                <a:solidFill>
                  <a:srgbClr val="AFC0CC"/>
                </a:solidFill>
                <a:latin typeface="Calibri" pitchFamily="34" charset="0"/>
                <a:ea typeface="Calibri" pitchFamily="34" charset="-122"/>
                <a:cs typeface="Calibri" pitchFamily="34" charset="-120"/>
              </a:rPr>
              <a:t>must-not-flag traps passed</a:t>
            </a:r>
            <a:endParaRPr lang="en-US" sz="1250" dirty="0"/>
          </a:p>
        </p:txBody>
      </p:sp>
      <p:sp>
        <p:nvSpPr>
          <p:cNvPr id="14" name="Shape 12"/>
          <p:cNvSpPr/>
          <p:nvPr/>
        </p:nvSpPr>
        <p:spPr>
          <a:xfrm>
            <a:off x="8961120" y="2011680"/>
            <a:ext cx="2606040" cy="1600200"/>
          </a:xfrm>
          <a:prstGeom prst="roundRect">
            <a:avLst>
              <a:gd name="adj" fmla="val 2286"/>
            </a:avLst>
          </a:prstGeom>
          <a:solidFill>
            <a:srgbClr val="253F52"/>
          </a:solidFill>
          <a:ln w="9525">
            <a:solidFill>
              <a:srgbClr val="38596E"/>
            </a:solidFill>
            <a:prstDash val="solid"/>
          </a:ln>
        </p:spPr>
      </p:sp>
      <p:sp>
        <p:nvSpPr>
          <p:cNvPr id="15" name="Text 13"/>
          <p:cNvSpPr/>
          <p:nvPr/>
        </p:nvSpPr>
        <p:spPr>
          <a:xfrm>
            <a:off x="9144000" y="2286000"/>
            <a:ext cx="2240280" cy="731520"/>
          </a:xfrm>
          <a:prstGeom prst="rect">
            <a:avLst/>
          </a:prstGeom>
          <a:noFill/>
          <a:ln/>
        </p:spPr>
        <p:txBody>
          <a:bodyPr wrap="square" lIns="0" tIns="0" rIns="0" bIns="0" rtlCol="0" anchor="ctr"/>
          <a:lstStyle/>
          <a:p>
            <a:pPr indent="0" marL="0">
              <a:buNone/>
            </a:pPr>
            <a:r>
              <a:rPr lang="en-US" sz="3000" b="1" dirty="0">
                <a:solidFill>
                  <a:srgbClr val="B4453A"/>
                </a:solidFill>
                <a:latin typeface="Calibri" pitchFamily="34" charset="0"/>
                <a:ea typeface="Calibri" pitchFamily="34" charset="-122"/>
                <a:cs typeface="Calibri" pitchFamily="34" charset="-120"/>
              </a:rPr>
              <a:t>$1,208.71</a:t>
            </a:r>
            <a:endParaRPr lang="en-US" sz="3000" dirty="0"/>
          </a:p>
        </p:txBody>
      </p:sp>
      <p:sp>
        <p:nvSpPr>
          <p:cNvPr id="16" name="Text 14"/>
          <p:cNvSpPr/>
          <p:nvPr/>
        </p:nvSpPr>
        <p:spPr>
          <a:xfrm>
            <a:off x="9144000" y="3035808"/>
            <a:ext cx="2240280" cy="502920"/>
          </a:xfrm>
          <a:prstGeom prst="rect">
            <a:avLst/>
          </a:prstGeom>
          <a:noFill/>
          <a:ln/>
        </p:spPr>
        <p:txBody>
          <a:bodyPr wrap="square" lIns="0" tIns="0" rIns="0" bIns="0" rtlCol="0" anchor="ctr"/>
          <a:lstStyle/>
          <a:p>
            <a:pPr indent="0" marL="0">
              <a:buNone/>
            </a:pPr>
            <a:r>
              <a:rPr lang="en-US" sz="1250" dirty="0">
                <a:solidFill>
                  <a:srgbClr val="AFC0CC"/>
                </a:solidFill>
                <a:latin typeface="Calibri" pitchFamily="34" charset="0"/>
                <a:ea typeface="Calibri" pitchFamily="34" charset="-122"/>
                <a:cs typeface="Calibri" pitchFamily="34" charset="-120"/>
              </a:rPr>
              <a:t>wrongly withheld, 6 of 20 claims</a:t>
            </a:r>
            <a:endParaRPr lang="en-US" sz="1250" dirty="0"/>
          </a:p>
        </p:txBody>
      </p:sp>
      <p:sp>
        <p:nvSpPr>
          <p:cNvPr id="17" name="Text 15"/>
          <p:cNvSpPr/>
          <p:nvPr/>
        </p:nvSpPr>
        <p:spPr>
          <a:xfrm>
            <a:off x="594360" y="4023360"/>
            <a:ext cx="10972800" cy="3200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Negative control: two consecutive official 2024 versions where only a HCPCS descriptor changed.</a:t>
            </a:r>
            <a:endParaRPr lang="en-US" sz="1400" dirty="0"/>
          </a:p>
        </p:txBody>
      </p:sp>
      <p:sp>
        <p:nvSpPr>
          <p:cNvPr id="18" name="Text 16"/>
          <p:cNvSpPr/>
          <p:nvPr/>
        </p:nvSpPr>
        <p:spPr>
          <a:xfrm>
            <a:off x="594360" y="4370832"/>
            <a:ext cx="10972800" cy="320040"/>
          </a:xfrm>
          <a:prstGeom prst="rect">
            <a:avLst/>
          </a:prstGeom>
          <a:noFill/>
          <a:ln/>
        </p:spPr>
        <p:txBody>
          <a:bodyPr wrap="square" lIns="0" tIns="0" rIns="0" bIns="0" rtlCol="0" anchor="ctr"/>
          <a:lstStyle/>
          <a:p>
            <a:pPr indent="0" marL="0">
              <a:buNone/>
            </a:pPr>
            <a:r>
              <a:rPr lang="en-US" sz="1400" dirty="0">
                <a:solidFill>
                  <a:srgbClr val="8FA3B2"/>
                </a:solidFill>
                <a:latin typeface="Calibri" pitchFamily="34" charset="0"/>
                <a:ea typeface="Calibri" pitchFamily="34" charset="-122"/>
                <a:cs typeface="Calibri" pitchFamily="34" charset="-120"/>
              </a:rPr>
              <a:t>Zero findings, and it reached that conclusion before spending a single model call.</a:t>
            </a:r>
            <a:endParaRPr lang="en-US" sz="1400" dirty="0"/>
          </a:p>
        </p:txBody>
      </p:sp>
      <p:sp>
        <p:nvSpPr>
          <p:cNvPr id="19" name="Text 17"/>
          <p:cNvSpPr/>
          <p:nvPr/>
        </p:nvSpPr>
        <p:spPr>
          <a:xfrm>
            <a:off x="594360" y="5074920"/>
            <a:ext cx="10972800" cy="320040"/>
          </a:xfrm>
          <a:prstGeom prst="rect">
            <a:avLst/>
          </a:prstGeom>
          <a:noFill/>
          <a:ln/>
        </p:spPr>
        <p:txBody>
          <a:bodyPr wrap="square" lIns="0" tIns="0" rIns="0" bIns="0" rtlCol="0" anchor="ctr"/>
          <a:lstStyle/>
          <a:p>
            <a:pPr indent="0" marL="0">
              <a:buNone/>
            </a:pPr>
            <a:r>
              <a:rPr lang="en-US" sz="1100" dirty="0">
                <a:solidFill>
                  <a:srgbClr val="6E8798"/>
                </a:solidFill>
                <a:latin typeface="Courier New" pitchFamily="34" charset="0"/>
                <a:ea typeface="Courier New" pitchFamily="34" charset="-122"/>
                <a:cs typeface="Courier New" pitchFamily="34" charset="-120"/>
              </a:rPr>
              <a:t>Scored against the revision history CMS publishes inside the document.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IMPACT</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Stale rules cost real decisions</a:t>
            </a:r>
            <a:endParaRPr lang="en-US" sz="3200" dirty="0"/>
          </a:p>
        </p:txBody>
      </p:sp>
      <p:graphicFrame>
        <p:nvGraphicFramePr>
          <p:cNvPr id="5" name="Chart 0" descr=""/>
          <p:cNvGraphicFramePr/>
          <p:nvPr/>
        </p:nvGraphicFramePr>
        <p:xfrm>
          <a:off x="594360" y="1691640"/>
          <a:ext cx="676656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35240" y="1691640"/>
            <a:ext cx="3931920" cy="3566160"/>
          </a:xfrm>
          <a:prstGeom prst="roundRect">
            <a:avLst>
              <a:gd name="adj" fmla="val 1026"/>
            </a:avLst>
          </a:prstGeom>
          <a:solidFill>
            <a:srgbClr val="F1F4F6"/>
          </a:solidFill>
          <a:ln w="9525">
            <a:solidFill>
              <a:srgbClr val="D8DEE3"/>
            </a:solidFill>
            <a:prstDash val="solid"/>
          </a:ln>
        </p:spPr>
      </p:sp>
      <p:sp>
        <p:nvSpPr>
          <p:cNvPr id="7" name="Text 4"/>
          <p:cNvSpPr/>
          <p:nvPr/>
        </p:nvSpPr>
        <p:spPr>
          <a:xfrm>
            <a:off x="7863840" y="1920240"/>
            <a:ext cx="3383280" cy="365760"/>
          </a:xfrm>
          <a:prstGeom prst="rect">
            <a:avLst/>
          </a:prstGeom>
          <a:noFill/>
          <a:ln/>
        </p:spPr>
        <p:txBody>
          <a:bodyPr wrap="square" lIns="0" tIns="0" rIns="0" bIns="0" rtlCol="0" anchor="ctr"/>
          <a:lstStyle/>
          <a:p>
            <a:pPr indent="0" marL="0">
              <a:buNone/>
            </a:pPr>
            <a:r>
              <a:rPr lang="en-US" sz="1700" b="1" dirty="0">
                <a:solidFill>
                  <a:srgbClr val="1C3141"/>
                </a:solidFill>
                <a:latin typeface="Calibri" pitchFamily="34" charset="0"/>
                <a:ea typeface="Calibri" pitchFamily="34" charset="-122"/>
                <a:cs typeface="Calibri" pitchFamily="34" charset="-120"/>
              </a:rPr>
              <a:t>Six of twenty claims changed</a:t>
            </a:r>
            <a:endParaRPr lang="en-US" sz="1700" dirty="0"/>
          </a:p>
        </p:txBody>
      </p:sp>
      <p:sp>
        <p:nvSpPr>
          <p:cNvPr id="8" name="Text 5"/>
          <p:cNvSpPr/>
          <p:nvPr/>
        </p:nvSpPr>
        <p:spPr>
          <a:xfrm>
            <a:off x="7863840" y="2331720"/>
            <a:ext cx="3383280" cy="2377440"/>
          </a:xfrm>
          <a:prstGeom prst="rect">
            <a:avLst/>
          </a:prstGeom>
          <a:noFill/>
          <a:ln/>
        </p:spPr>
        <p:txBody>
          <a:bodyPr wrap="square" lIns="0" tIns="0" rIns="0" bIns="0" rtlCol="0" anchor="t"/>
          <a:lstStyle/>
          <a:p>
            <a:pPr indent="0" marL="0">
              <a:buNone/>
            </a:pPr>
            <a:r>
              <a:rPr lang="en-US" sz="1200" dirty="0">
                <a:solidFill>
                  <a:srgbClr val="1C3141"/>
                </a:solidFill>
                <a:latin typeface="Courier New" pitchFamily="34" charset="0"/>
                <a:ea typeface="Courier New" pitchFamily="34" charset="-122"/>
                <a:cs typeface="Courier New" pitchFamily="34" charset="-120"/>
              </a:rPr>
              <a:t>C-003, C-004, C-007  </a:t>
            </a:r>
            <a:endParaRPr lang="en-US" sz="1200" dirty="0"/>
          </a:p>
          <a:p>
            <a:pPr indent="0" marL="0">
              <a:buNone/>
            </a:pPr>
            <a:r>
              <a:rPr lang="en-US" sz="1250" dirty="0">
                <a:solidFill>
                  <a:srgbClr val="6B7A85"/>
                </a:solidFill>
                <a:latin typeface="Calibri" pitchFamily="34" charset="0"/>
                <a:ea typeface="Calibri" pitchFamily="34" charset="-122"/>
                <a:cs typeface="Calibri" pitchFamily="34" charset="-120"/>
              </a:rPr>
              <a:t>denied for a testing requirement CMS deleted</a:t>
            </a:r>
            <a:endParaRPr lang="en-US" sz="1200" dirty="0"/>
          </a:p>
          <a:p>
            <a:pPr indent="0" marL="0">
              <a:buNone/>
            </a:pPr>
            <a:endParaRPr lang="en-US" sz="1200" dirty="0"/>
          </a:p>
          <a:p>
            <a:pPr indent="0" marL="0">
              <a:buNone/>
            </a:pPr>
            <a:r>
              <a:rPr lang="en-US" sz="1200" dirty="0">
                <a:solidFill>
                  <a:srgbClr val="1C3141"/>
                </a:solidFill>
                <a:latin typeface="Courier New" pitchFamily="34" charset="0"/>
                <a:ea typeface="Courier New" pitchFamily="34" charset="-122"/>
                <a:cs typeface="Courier New" pitchFamily="34" charset="-120"/>
              </a:rPr>
              <a:t>C-008  </a:t>
            </a:r>
            <a:endParaRPr lang="en-US" sz="1200" dirty="0"/>
          </a:p>
          <a:p>
            <a:pPr indent="0" marL="0">
              <a:buNone/>
            </a:pPr>
            <a:r>
              <a:rPr lang="en-US" sz="1250" dirty="0">
                <a:solidFill>
                  <a:srgbClr val="6B7A85"/>
                </a:solidFill>
                <a:latin typeface="Calibri" pitchFamily="34" charset="0"/>
                <a:ea typeface="Calibri" pitchFamily="34" charset="-122"/>
                <a:cs typeface="Calibri" pitchFamily="34" charset="-120"/>
              </a:rPr>
              <a:t>sat in manual review for a rule that no longer exists</a:t>
            </a:r>
            <a:endParaRPr lang="en-US" sz="1200" dirty="0"/>
          </a:p>
          <a:p>
            <a:pPr indent="0" marL="0">
              <a:buNone/>
            </a:pPr>
            <a:endParaRPr lang="en-US" sz="1200" dirty="0"/>
          </a:p>
          <a:p>
            <a:pPr indent="0" marL="0">
              <a:buNone/>
            </a:pPr>
            <a:r>
              <a:rPr lang="en-US" sz="1200" dirty="0">
                <a:solidFill>
                  <a:srgbClr val="1C3141"/>
                </a:solidFill>
                <a:latin typeface="Courier New" pitchFamily="34" charset="0"/>
                <a:ea typeface="Courier New" pitchFamily="34" charset="-122"/>
                <a:cs typeface="Courier New" pitchFamily="34" charset="-120"/>
              </a:rPr>
              <a:t>C-011, C-016  </a:t>
            </a:r>
            <a:endParaRPr lang="en-US" sz="1200" dirty="0"/>
          </a:p>
          <a:p>
            <a:pPr indent="0" marL="0">
              <a:buNone/>
            </a:pPr>
            <a:r>
              <a:rPr lang="en-US" sz="1250" dirty="0">
                <a:solidFill>
                  <a:srgbClr val="6B7A85"/>
                </a:solidFill>
                <a:latin typeface="Calibri" pitchFamily="34" charset="0"/>
                <a:ea typeface="Calibri" pitchFamily="34" charset="-122"/>
                <a:cs typeface="Calibri" pitchFamily="34" charset="-120"/>
              </a:rPr>
              <a:t>insulin pump and non-injection routes, both newly eligible</a:t>
            </a:r>
            <a:endParaRPr lang="en-US" sz="1200" dirty="0"/>
          </a:p>
        </p:txBody>
      </p:sp>
      <p:sp>
        <p:nvSpPr>
          <p:cNvPr id="9" name="Text 6"/>
          <p:cNvSpPr/>
          <p:nvPr/>
        </p:nvSpPr>
        <p:spPr>
          <a:xfrm>
            <a:off x="594360" y="5440680"/>
            <a:ext cx="10972800" cy="365760"/>
          </a:xfrm>
          <a:prstGeom prst="rect">
            <a:avLst/>
          </a:prstGeom>
          <a:noFill/>
          <a:ln/>
        </p:spPr>
        <p:txBody>
          <a:bodyPr wrap="square" lIns="0" tIns="0" rIns="0" bIns="0" rtlCol="0" anchor="ctr"/>
          <a:lstStyle/>
          <a:p>
            <a:pPr indent="0" marL="0">
              <a:buNone/>
            </a:pPr>
            <a:r>
              <a:rPr lang="en-US" sz="1300" i="1" dirty="0">
                <a:solidFill>
                  <a:srgbClr val="6B7A85"/>
                </a:solidFill>
                <a:latin typeface="Calibri" pitchFamily="34" charset="0"/>
                <a:ea typeface="Calibri" pitchFamily="34" charset="-122"/>
                <a:cs typeface="Calibri" pitchFamily="34" charset="-120"/>
              </a:rPr>
              <a:t>Twenty claims is a demonstration. In production this replays ninety days of real claims and returns a worklist ranked by dollars.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WHY TRUST IT</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The model authors. It never decides.</a:t>
            </a:r>
            <a:endParaRPr lang="en-US" sz="3200" dirty="0"/>
          </a:p>
        </p:txBody>
      </p:sp>
      <p:sp>
        <p:nvSpPr>
          <p:cNvPr id="5" name="Shape 3"/>
          <p:cNvSpPr/>
          <p:nvPr/>
        </p:nvSpPr>
        <p:spPr>
          <a:xfrm>
            <a:off x="594360" y="1737360"/>
            <a:ext cx="5326380" cy="1554480"/>
          </a:xfrm>
          <a:prstGeom prst="roundRect">
            <a:avLst>
              <a:gd name="adj" fmla="val 2353"/>
            </a:avLst>
          </a:prstGeom>
          <a:solidFill>
            <a:srgbClr val="F1F4F6"/>
          </a:solidFill>
          <a:ln w="9525">
            <a:solidFill>
              <a:srgbClr val="D8DEE3"/>
            </a:solidFill>
            <a:prstDash val="solid"/>
          </a:ln>
        </p:spPr>
      </p:sp>
      <p:sp>
        <p:nvSpPr>
          <p:cNvPr id="6" name="Text 4"/>
          <p:cNvSpPr/>
          <p:nvPr/>
        </p:nvSpPr>
        <p:spPr>
          <a:xfrm>
            <a:off x="822960" y="1938528"/>
            <a:ext cx="4869180" cy="411480"/>
          </a:xfrm>
          <a:prstGeom prst="rect">
            <a:avLst/>
          </a:prstGeom>
          <a:noFill/>
          <a:ln/>
        </p:spPr>
        <p:txBody>
          <a:bodyPr wrap="square" lIns="0" tIns="0" rIns="0" bIns="0" rtlCol="0" anchor="ctr"/>
          <a:lstStyle/>
          <a:p>
            <a:pPr indent="0" marL="0">
              <a:buNone/>
            </a:pPr>
            <a:r>
              <a:rPr lang="en-US" sz="1600" b="1" dirty="0">
                <a:solidFill>
                  <a:srgbClr val="1C3141"/>
                </a:solidFill>
                <a:latin typeface="Calibri" pitchFamily="34" charset="0"/>
                <a:ea typeface="Calibri" pitchFamily="34" charset="-122"/>
                <a:cs typeface="Calibri" pitchFamily="34" charset="-120"/>
              </a:rPr>
              <a:t>Citations are verified, not trusted</a:t>
            </a:r>
            <a:endParaRPr lang="en-US" sz="1600" dirty="0"/>
          </a:p>
        </p:txBody>
      </p:sp>
      <p:sp>
        <p:nvSpPr>
          <p:cNvPr id="7" name="Text 5"/>
          <p:cNvSpPr/>
          <p:nvPr/>
        </p:nvSpPr>
        <p:spPr>
          <a:xfrm>
            <a:off x="822960" y="2395728"/>
            <a:ext cx="4869180" cy="77724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The model quotes a sentence; the code goes and finds it. An unfindable quote is a fabricated citation and the rule is discarded.</a:t>
            </a:r>
            <a:endParaRPr lang="en-US" sz="1300" dirty="0"/>
          </a:p>
        </p:txBody>
      </p:sp>
      <p:sp>
        <p:nvSpPr>
          <p:cNvPr id="8" name="Shape 6"/>
          <p:cNvSpPr/>
          <p:nvPr/>
        </p:nvSpPr>
        <p:spPr>
          <a:xfrm>
            <a:off x="6240780" y="1737360"/>
            <a:ext cx="5326380" cy="1554480"/>
          </a:xfrm>
          <a:prstGeom prst="roundRect">
            <a:avLst>
              <a:gd name="adj" fmla="val 2353"/>
            </a:avLst>
          </a:prstGeom>
          <a:solidFill>
            <a:srgbClr val="F1F4F6"/>
          </a:solidFill>
          <a:ln w="9525">
            <a:solidFill>
              <a:srgbClr val="D8DEE3"/>
            </a:solidFill>
            <a:prstDash val="solid"/>
          </a:ln>
        </p:spPr>
      </p:sp>
      <p:sp>
        <p:nvSpPr>
          <p:cNvPr id="9" name="Text 7"/>
          <p:cNvSpPr/>
          <p:nvPr/>
        </p:nvSpPr>
        <p:spPr>
          <a:xfrm>
            <a:off x="6469380" y="1938528"/>
            <a:ext cx="4869180" cy="411480"/>
          </a:xfrm>
          <a:prstGeom prst="rect">
            <a:avLst/>
          </a:prstGeom>
          <a:noFill/>
          <a:ln/>
        </p:spPr>
        <p:txBody>
          <a:bodyPr wrap="square" lIns="0" tIns="0" rIns="0" bIns="0" rtlCol="0" anchor="ctr"/>
          <a:lstStyle/>
          <a:p>
            <a:pPr indent="0" marL="0">
              <a:buNone/>
            </a:pPr>
            <a:r>
              <a:rPr lang="en-US" sz="1600" b="1" dirty="0">
                <a:solidFill>
                  <a:srgbClr val="1C3141"/>
                </a:solidFill>
                <a:latin typeface="Calibri" pitchFamily="34" charset="0"/>
                <a:ea typeface="Calibri" pitchFamily="34" charset="-122"/>
                <a:cs typeface="Calibri" pitchFamily="34" charset="-120"/>
              </a:rPr>
              <a:t>The schema is the validator</a:t>
            </a:r>
            <a:endParaRPr lang="en-US" sz="1600" dirty="0"/>
          </a:p>
        </p:txBody>
      </p:sp>
      <p:sp>
        <p:nvSpPr>
          <p:cNvPr id="10" name="Text 8"/>
          <p:cNvSpPr/>
          <p:nvPr/>
        </p:nvSpPr>
        <p:spPr>
          <a:xfrm>
            <a:off x="6469380" y="2395728"/>
            <a:ext cx="4869180" cy="77724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Type and range checks against the claim schema caught rules that referenced real fields and were still nonsense, at zero cost.</a:t>
            </a:r>
            <a:endParaRPr lang="en-US" sz="1300" dirty="0"/>
          </a:p>
        </p:txBody>
      </p:sp>
      <p:sp>
        <p:nvSpPr>
          <p:cNvPr id="11" name="Shape 9"/>
          <p:cNvSpPr/>
          <p:nvPr/>
        </p:nvSpPr>
        <p:spPr>
          <a:xfrm>
            <a:off x="594360" y="3520440"/>
            <a:ext cx="5326380" cy="1554480"/>
          </a:xfrm>
          <a:prstGeom prst="roundRect">
            <a:avLst>
              <a:gd name="adj" fmla="val 2353"/>
            </a:avLst>
          </a:prstGeom>
          <a:solidFill>
            <a:srgbClr val="F1F4F6"/>
          </a:solidFill>
          <a:ln w="9525">
            <a:solidFill>
              <a:srgbClr val="D8DEE3"/>
            </a:solidFill>
            <a:prstDash val="solid"/>
          </a:ln>
        </p:spPr>
      </p:sp>
      <p:sp>
        <p:nvSpPr>
          <p:cNvPr id="12" name="Text 10"/>
          <p:cNvSpPr/>
          <p:nvPr/>
        </p:nvSpPr>
        <p:spPr>
          <a:xfrm>
            <a:off x="822960" y="3721608"/>
            <a:ext cx="4869180" cy="411480"/>
          </a:xfrm>
          <a:prstGeom prst="rect">
            <a:avLst/>
          </a:prstGeom>
          <a:noFill/>
          <a:ln/>
        </p:spPr>
        <p:txBody>
          <a:bodyPr wrap="square" lIns="0" tIns="0" rIns="0" bIns="0" rtlCol="0" anchor="ctr"/>
          <a:lstStyle/>
          <a:p>
            <a:pPr indent="0" marL="0">
              <a:buNone/>
            </a:pPr>
            <a:r>
              <a:rPr lang="en-US" sz="1600" b="1" dirty="0">
                <a:solidFill>
                  <a:srgbClr val="1C3141"/>
                </a:solidFill>
                <a:latin typeface="Calibri" pitchFamily="34" charset="0"/>
                <a:ea typeface="Calibri" pitchFamily="34" charset="-122"/>
                <a:cs typeface="Calibri" pitchFamily="34" charset="-120"/>
              </a:rPr>
              <a:t>Facts from the model, verdicts from a table</a:t>
            </a:r>
            <a:endParaRPr lang="en-US" sz="1600" dirty="0"/>
          </a:p>
        </p:txBody>
      </p:sp>
      <p:sp>
        <p:nvSpPr>
          <p:cNvPr id="13" name="Text 11"/>
          <p:cNvSpPr/>
          <p:nvPr/>
        </p:nvSpPr>
        <p:spPr>
          <a:xfrm>
            <a:off x="822960" y="4178808"/>
            <a:ext cx="4869180" cy="77724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The drift detector reports three observations. Python derives the verdict. Deterministic, inspectable, identical every time.</a:t>
            </a:r>
            <a:endParaRPr lang="en-US" sz="1300" dirty="0"/>
          </a:p>
        </p:txBody>
      </p:sp>
      <p:sp>
        <p:nvSpPr>
          <p:cNvPr id="14" name="Shape 12"/>
          <p:cNvSpPr/>
          <p:nvPr/>
        </p:nvSpPr>
        <p:spPr>
          <a:xfrm>
            <a:off x="6240780" y="3520440"/>
            <a:ext cx="5326380" cy="1554480"/>
          </a:xfrm>
          <a:prstGeom prst="roundRect">
            <a:avLst>
              <a:gd name="adj" fmla="val 2353"/>
            </a:avLst>
          </a:prstGeom>
          <a:solidFill>
            <a:srgbClr val="F1F4F6"/>
          </a:solidFill>
          <a:ln w="9525">
            <a:solidFill>
              <a:srgbClr val="D8DEE3"/>
            </a:solidFill>
            <a:prstDash val="solid"/>
          </a:ln>
        </p:spPr>
      </p:sp>
      <p:sp>
        <p:nvSpPr>
          <p:cNvPr id="15" name="Text 13"/>
          <p:cNvSpPr/>
          <p:nvPr/>
        </p:nvSpPr>
        <p:spPr>
          <a:xfrm>
            <a:off x="6469380" y="3721608"/>
            <a:ext cx="4869180" cy="411480"/>
          </a:xfrm>
          <a:prstGeom prst="rect">
            <a:avLst/>
          </a:prstGeom>
          <a:noFill/>
          <a:ln/>
        </p:spPr>
        <p:txBody>
          <a:bodyPr wrap="square" lIns="0" tIns="0" rIns="0" bIns="0" rtlCol="0" anchor="ctr"/>
          <a:lstStyle/>
          <a:p>
            <a:pPr indent="0" marL="0">
              <a:buNone/>
            </a:pPr>
            <a:r>
              <a:rPr lang="en-US" sz="1600" b="1" dirty="0">
                <a:solidFill>
                  <a:srgbClr val="1C3141"/>
                </a:solidFill>
                <a:latin typeface="Calibri" pitchFamily="34" charset="0"/>
                <a:ea typeface="Calibri" pitchFamily="34" charset="-122"/>
                <a:cs typeface="Calibri" pitchFamily="34" charset="-120"/>
              </a:rPr>
              <a:t>Missing data never denies</a:t>
            </a:r>
            <a:endParaRPr lang="en-US" sz="1600" dirty="0"/>
          </a:p>
        </p:txBody>
      </p:sp>
      <p:sp>
        <p:nvSpPr>
          <p:cNvPr id="16" name="Text 14"/>
          <p:cNvSpPr/>
          <p:nvPr/>
        </p:nvSpPr>
        <p:spPr>
          <a:xfrm>
            <a:off x="6469380" y="4178808"/>
            <a:ext cx="4869180" cy="77724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Three-valued logic. Absence of evidence routes to a human, not to a denial.</a:t>
            </a:r>
            <a:endParaRPr lang="en-US" sz="1300" dirty="0"/>
          </a:p>
        </p:txBody>
      </p:sp>
      <p:sp>
        <p:nvSpPr>
          <p:cNvPr id="17" name="Text 15"/>
          <p:cNvSpPr/>
          <p:nvPr/>
        </p:nvSpPr>
        <p:spPr>
          <a:xfrm>
            <a:off x="594360" y="5440680"/>
            <a:ext cx="10972800" cy="365760"/>
          </a:xfrm>
          <a:prstGeom prst="rect">
            <a:avLst/>
          </a:prstGeom>
          <a:noFill/>
          <a:ln/>
        </p:spPr>
        <p:txBody>
          <a:bodyPr wrap="square" lIns="0" tIns="0" rIns="0" bIns="0" rtlCol="0" anchor="ctr"/>
          <a:lstStyle/>
          <a:p>
            <a:pPr indent="0" marL="0">
              <a:buNone/>
            </a:pPr>
            <a:r>
              <a:rPr lang="en-US" sz="1600" i="1" dirty="0">
                <a:solidFill>
                  <a:srgbClr val="1C3141"/>
                </a:solidFill>
                <a:latin typeface="Cambria" pitchFamily="34" charset="0"/>
                <a:ea typeface="Cambria" pitchFamily="34" charset="-122"/>
                <a:cs typeface="Cambria" pitchFamily="34" charset="-120"/>
              </a:rPr>
              <a:t>A denial has to be reproducible three years later, on appeal. That rules a model out of the decision path.</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B4453A"/>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WHAT BROKE</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Three things broke. The tests caught each one.</a:t>
            </a:r>
            <a:endParaRPr lang="en-US" sz="3200" dirty="0"/>
          </a:p>
        </p:txBody>
      </p:sp>
      <p:sp>
        <p:nvSpPr>
          <p:cNvPr id="5" name="Shape 3"/>
          <p:cNvSpPr/>
          <p:nvPr/>
        </p:nvSpPr>
        <p:spPr>
          <a:xfrm>
            <a:off x="594360" y="1737360"/>
            <a:ext cx="3505200" cy="3200400"/>
          </a:xfrm>
          <a:prstGeom prst="roundRect">
            <a:avLst>
              <a:gd name="adj" fmla="val 1143"/>
            </a:avLst>
          </a:prstGeom>
          <a:solidFill>
            <a:srgbClr val="F7EDEC"/>
          </a:solidFill>
          <a:ln w="9525">
            <a:solidFill>
              <a:srgbClr val="D8DEE3"/>
            </a:solidFill>
            <a:prstDash val="solid"/>
          </a:ln>
        </p:spPr>
      </p:sp>
      <p:sp>
        <p:nvSpPr>
          <p:cNvPr id="6" name="Text 4"/>
          <p:cNvSpPr/>
          <p:nvPr/>
        </p:nvSpPr>
        <p:spPr>
          <a:xfrm>
            <a:off x="813816" y="1938528"/>
            <a:ext cx="3066288" cy="685800"/>
          </a:xfrm>
          <a:prstGeom prst="rect">
            <a:avLst/>
          </a:prstGeom>
          <a:noFill/>
          <a:ln/>
        </p:spPr>
        <p:txBody>
          <a:bodyPr wrap="square" lIns="0" tIns="0" rIns="0" bIns="0" rtlCol="0" anchor="ctr"/>
          <a:lstStyle/>
          <a:p>
            <a:pPr indent="0" marL="0">
              <a:buNone/>
            </a:pPr>
            <a:r>
              <a:rPr lang="en-US" sz="1550" b="1" dirty="0">
                <a:solidFill>
                  <a:srgbClr val="B4453A"/>
                </a:solidFill>
                <a:latin typeface="Calibri" pitchFamily="34" charset="0"/>
                <a:ea typeface="Calibri" pitchFamily="34" charset="-122"/>
                <a:cs typeface="Calibri" pitchFamily="34" charset="-120"/>
              </a:rPr>
              <a:t>Two rules were type-valid nonsense</a:t>
            </a:r>
            <a:endParaRPr lang="en-US" sz="1550" dirty="0"/>
          </a:p>
        </p:txBody>
      </p:sp>
      <p:sp>
        <p:nvSpPr>
          <p:cNvPr id="7" name="Text 5"/>
          <p:cNvSpPr/>
          <p:nvPr/>
        </p:nvSpPr>
        <p:spPr>
          <a:xfrm>
            <a:off x="813816" y="2670048"/>
            <a:ext cx="3066288" cy="1371600"/>
          </a:xfrm>
          <a:prstGeom prst="rect">
            <a:avLst/>
          </a:prstGeom>
          <a:noFill/>
          <a:ln/>
        </p:spPr>
        <p:txBody>
          <a:bodyPr wrap="square" lIns="0" tIns="0" rIns="0" bIns="0" rtlCol="0" anchor="ctr"/>
          <a:lstStyle/>
          <a:p>
            <a:pPr indent="0" marL="0">
              <a:buNone/>
            </a:pPr>
            <a:r>
              <a:rPr lang="en-US" sz="1250" dirty="0">
                <a:solidFill>
                  <a:srgbClr val="1C3141"/>
                </a:solidFill>
                <a:latin typeface="Calibri" pitchFamily="34" charset="0"/>
                <a:ea typeface="Calibri" pitchFamily="34" charset="-122"/>
                <a:cs typeface="Calibri" pitchFamily="34" charset="-120"/>
              </a:rPr>
              <a:t>The extractor produced claim_id contains_any ["K0554"]. Validation only checked that fields existed. Twelve claims became manual review.</a:t>
            </a:r>
            <a:endParaRPr lang="en-US" sz="1250" dirty="0"/>
          </a:p>
        </p:txBody>
      </p:sp>
      <p:sp>
        <p:nvSpPr>
          <p:cNvPr id="8" name="Text 6"/>
          <p:cNvSpPr/>
          <p:nvPr/>
        </p:nvSpPr>
        <p:spPr>
          <a:xfrm>
            <a:off x="813816" y="4069080"/>
            <a:ext cx="3066288" cy="777240"/>
          </a:xfrm>
          <a:prstGeom prst="rect">
            <a:avLst/>
          </a:prstGeom>
          <a:noFill/>
          <a:ln/>
        </p:spPr>
        <p:txBody>
          <a:bodyPr wrap="square" lIns="0" tIns="0" rIns="0" bIns="0" rtlCol="0" anchor="ctr"/>
          <a:lstStyle/>
          <a:p>
            <a:pPr indent="0" marL="0">
              <a:buNone/>
            </a:pPr>
            <a:r>
              <a:rPr lang="en-US" sz="1250" b="1" dirty="0">
                <a:solidFill>
                  <a:srgbClr val="2A4759"/>
                </a:solidFill>
                <a:latin typeface="Calibri" pitchFamily="34" charset="0"/>
                <a:ea typeface="Calibri" pitchFamily="34" charset="-122"/>
                <a:cs typeface="Calibri" pitchFamily="34" charset="-120"/>
              </a:rPr>
              <a:t>Fix: type and enum checks against the schema I already had.</a:t>
            </a:r>
            <a:endParaRPr lang="en-US" sz="1250" dirty="0"/>
          </a:p>
        </p:txBody>
      </p:sp>
      <p:sp>
        <p:nvSpPr>
          <p:cNvPr id="9" name="Shape 7"/>
          <p:cNvSpPr/>
          <p:nvPr/>
        </p:nvSpPr>
        <p:spPr>
          <a:xfrm>
            <a:off x="4328160" y="1737360"/>
            <a:ext cx="3505200" cy="3200400"/>
          </a:xfrm>
          <a:prstGeom prst="roundRect">
            <a:avLst>
              <a:gd name="adj" fmla="val 1143"/>
            </a:avLst>
          </a:prstGeom>
          <a:solidFill>
            <a:srgbClr val="F7EDEC"/>
          </a:solidFill>
          <a:ln w="9525">
            <a:solidFill>
              <a:srgbClr val="D8DEE3"/>
            </a:solidFill>
            <a:prstDash val="solid"/>
          </a:ln>
        </p:spPr>
      </p:sp>
      <p:sp>
        <p:nvSpPr>
          <p:cNvPr id="10" name="Text 8"/>
          <p:cNvSpPr/>
          <p:nvPr/>
        </p:nvSpPr>
        <p:spPr>
          <a:xfrm>
            <a:off x="4547616" y="1938528"/>
            <a:ext cx="3066288" cy="685800"/>
          </a:xfrm>
          <a:prstGeom prst="rect">
            <a:avLst/>
          </a:prstGeom>
          <a:noFill/>
          <a:ln/>
        </p:spPr>
        <p:txBody>
          <a:bodyPr wrap="square" lIns="0" tIns="0" rIns="0" bIns="0" rtlCol="0" anchor="ctr"/>
          <a:lstStyle/>
          <a:p>
            <a:pPr indent="0" marL="0">
              <a:buNone/>
            </a:pPr>
            <a:r>
              <a:rPr lang="en-US" sz="1550" b="1" dirty="0">
                <a:solidFill>
                  <a:srgbClr val="B4453A"/>
                </a:solidFill>
                <a:latin typeface="Calibri" pitchFamily="34" charset="0"/>
                <a:ea typeface="Calibri" pitchFamily="34" charset="-122"/>
                <a:cs typeface="Calibri" pitchFamily="34" charset="-120"/>
              </a:rPr>
              <a:t>The detector missed two of three changes</a:t>
            </a:r>
            <a:endParaRPr lang="en-US" sz="1550" dirty="0"/>
          </a:p>
        </p:txBody>
      </p:sp>
      <p:sp>
        <p:nvSpPr>
          <p:cNvPr id="11" name="Text 9"/>
          <p:cNvSpPr/>
          <p:nvPr/>
        </p:nvSpPr>
        <p:spPr>
          <a:xfrm>
            <a:off x="4547616" y="2670048"/>
            <a:ext cx="3066288" cy="1371600"/>
          </a:xfrm>
          <a:prstGeom prst="rect">
            <a:avLst/>
          </a:prstGeom>
          <a:noFill/>
          <a:ln/>
        </p:spPr>
        <p:txBody>
          <a:bodyPr wrap="square" lIns="0" tIns="0" rIns="0" bIns="0" rtlCol="0" anchor="ctr"/>
          <a:lstStyle/>
          <a:p>
            <a:pPr indent="0" marL="0">
              <a:buNone/>
            </a:pPr>
            <a:r>
              <a:rPr lang="en-US" sz="1250" dirty="0">
                <a:solidFill>
                  <a:srgbClr val="1C3141"/>
                </a:solidFill>
                <a:latin typeface="Calibri" pitchFamily="34" charset="0"/>
                <a:ea typeface="Calibri" pitchFamily="34" charset="-122"/>
                <a:cs typeface="Calibri" pitchFamily="34" charset="-120"/>
              </a:rPr>
              <a:t>It read the insulin criterion in both versions and called it unchanged, never registering that "injections" had become "administrations".</a:t>
            </a:r>
            <a:endParaRPr lang="en-US" sz="1250" dirty="0"/>
          </a:p>
        </p:txBody>
      </p:sp>
      <p:sp>
        <p:nvSpPr>
          <p:cNvPr id="12" name="Text 10"/>
          <p:cNvSpPr/>
          <p:nvPr/>
        </p:nvSpPr>
        <p:spPr>
          <a:xfrm>
            <a:off x="4547616" y="4069080"/>
            <a:ext cx="3066288" cy="777240"/>
          </a:xfrm>
          <a:prstGeom prst="rect">
            <a:avLst/>
          </a:prstGeom>
          <a:noFill/>
          <a:ln/>
        </p:spPr>
        <p:txBody>
          <a:bodyPr wrap="square" lIns="0" tIns="0" rIns="0" bIns="0" rtlCol="0" anchor="ctr"/>
          <a:lstStyle/>
          <a:p>
            <a:pPr indent="0" marL="0">
              <a:buNone/>
            </a:pPr>
            <a:r>
              <a:rPr lang="en-US" sz="1250" b="1" dirty="0">
                <a:solidFill>
                  <a:srgbClr val="2A4759"/>
                </a:solidFill>
                <a:latin typeface="Calibri" pitchFamily="34" charset="0"/>
                <a:ea typeface="Calibri" pitchFamily="34" charset="-122"/>
                <a:cs typeface="Calibri" pitchFamily="34" charset="-120"/>
              </a:rPr>
              <a:t>Fix: stop asking for a verdict. Ask for facts, derive the verdict.</a:t>
            </a:r>
            <a:endParaRPr lang="en-US" sz="1250" dirty="0"/>
          </a:p>
        </p:txBody>
      </p:sp>
      <p:sp>
        <p:nvSpPr>
          <p:cNvPr id="13" name="Shape 11"/>
          <p:cNvSpPr/>
          <p:nvPr/>
        </p:nvSpPr>
        <p:spPr>
          <a:xfrm>
            <a:off x="8061960" y="1737360"/>
            <a:ext cx="3505200" cy="3200400"/>
          </a:xfrm>
          <a:prstGeom prst="roundRect">
            <a:avLst>
              <a:gd name="adj" fmla="val 1143"/>
            </a:avLst>
          </a:prstGeom>
          <a:solidFill>
            <a:srgbClr val="F7EDEC"/>
          </a:solidFill>
          <a:ln w="9525">
            <a:solidFill>
              <a:srgbClr val="D8DEE3"/>
            </a:solidFill>
            <a:prstDash val="solid"/>
          </a:ln>
        </p:spPr>
      </p:sp>
      <p:sp>
        <p:nvSpPr>
          <p:cNvPr id="14" name="Text 12"/>
          <p:cNvSpPr/>
          <p:nvPr/>
        </p:nvSpPr>
        <p:spPr>
          <a:xfrm>
            <a:off x="8281416" y="1938528"/>
            <a:ext cx="3066288" cy="685800"/>
          </a:xfrm>
          <a:prstGeom prst="rect">
            <a:avLst/>
          </a:prstGeom>
          <a:noFill/>
          <a:ln/>
        </p:spPr>
        <p:txBody>
          <a:bodyPr wrap="square" lIns="0" tIns="0" rIns="0" bIns="0" rtlCol="0" anchor="ctr"/>
          <a:lstStyle/>
          <a:p>
            <a:pPr indent="0" marL="0">
              <a:buNone/>
            </a:pPr>
            <a:r>
              <a:rPr lang="en-US" sz="1550" b="1" dirty="0">
                <a:solidFill>
                  <a:srgbClr val="B4453A"/>
                </a:solidFill>
                <a:latin typeface="Calibri" pitchFamily="34" charset="0"/>
                <a:ea typeface="Calibri" pitchFamily="34" charset="-122"/>
                <a:cs typeface="Calibri" pitchFamily="34" charset="-120"/>
              </a:rPr>
              <a:t>Majority voting picked the wrong answer</a:t>
            </a:r>
            <a:endParaRPr lang="en-US" sz="1550" dirty="0"/>
          </a:p>
        </p:txBody>
      </p:sp>
      <p:sp>
        <p:nvSpPr>
          <p:cNvPr id="15" name="Text 13"/>
          <p:cNvSpPr/>
          <p:nvPr/>
        </p:nvSpPr>
        <p:spPr>
          <a:xfrm>
            <a:off x="8281416" y="2670048"/>
            <a:ext cx="3066288" cy="1371600"/>
          </a:xfrm>
          <a:prstGeom prst="rect">
            <a:avLst/>
          </a:prstGeom>
          <a:noFill/>
          <a:ln/>
        </p:spPr>
        <p:txBody>
          <a:bodyPr wrap="square" lIns="0" tIns="0" rIns="0" bIns="0" rtlCol="0" anchor="ctr"/>
          <a:lstStyle/>
          <a:p>
            <a:pPr indent="0" marL="0">
              <a:buNone/>
            </a:pPr>
            <a:r>
              <a:rPr lang="en-US" sz="1250" dirty="0">
                <a:solidFill>
                  <a:srgbClr val="1C3141"/>
                </a:solidFill>
                <a:latin typeface="Calibri" pitchFamily="34" charset="0"/>
                <a:ea typeface="Calibri" pitchFamily="34" charset="-122"/>
                <a:cs typeface="Calibri" pitchFamily="34" charset="-120"/>
              </a:rPr>
              <a:t>Five extraction runs disagreed. The two-vote plurality dropped an alternative that would have denied every pump user.</a:t>
            </a:r>
            <a:endParaRPr lang="en-US" sz="1250" dirty="0"/>
          </a:p>
        </p:txBody>
      </p:sp>
      <p:sp>
        <p:nvSpPr>
          <p:cNvPr id="16" name="Text 14"/>
          <p:cNvSpPr/>
          <p:nvPr/>
        </p:nvSpPr>
        <p:spPr>
          <a:xfrm>
            <a:off x="8281416" y="4069080"/>
            <a:ext cx="3066288" cy="777240"/>
          </a:xfrm>
          <a:prstGeom prst="rect">
            <a:avLst/>
          </a:prstGeom>
          <a:noFill/>
          <a:ln/>
        </p:spPr>
        <p:txBody>
          <a:bodyPr wrap="square" lIns="0" tIns="0" rIns="0" bIns="0" rtlCol="0" anchor="ctr"/>
          <a:lstStyle/>
          <a:p>
            <a:pPr indent="0" marL="0">
              <a:buNone/>
            </a:pPr>
            <a:r>
              <a:rPr lang="en-US" sz="1250" b="1" dirty="0">
                <a:solidFill>
                  <a:srgbClr val="2A4759"/>
                </a:solidFill>
                <a:latin typeface="Calibri" pitchFamily="34" charset="0"/>
                <a:ea typeface="Calibri" pitchFamily="34" charset="-122"/>
                <a:cs typeface="Calibri" pitchFamily="34" charset="-120"/>
              </a:rPr>
              <a:t>Fix: round-trip verification arbitrates. It recovered the one-vote correct answer.</a:t>
            </a:r>
            <a:endParaRPr lang="en-US" sz="1250" dirty="0"/>
          </a:p>
        </p:txBody>
      </p:sp>
      <p:sp>
        <p:nvSpPr>
          <p:cNvPr id="17" name="Text 15"/>
          <p:cNvSpPr/>
          <p:nvPr/>
        </p:nvSpPr>
        <p:spPr>
          <a:xfrm>
            <a:off x="594360" y="5212080"/>
            <a:ext cx="10972800" cy="365760"/>
          </a:xfrm>
          <a:prstGeom prst="rect">
            <a:avLst/>
          </a:prstGeom>
          <a:noFill/>
          <a:ln/>
        </p:spPr>
        <p:txBody>
          <a:bodyPr wrap="square" lIns="0" tIns="0" rIns="0" bIns="0" rtlCol="0" anchor="ctr"/>
          <a:lstStyle/>
          <a:p>
            <a:pPr indent="0" marL="0">
              <a:buNone/>
            </a:pPr>
            <a:r>
              <a:rPr lang="en-US" sz="1700" i="1" dirty="0">
                <a:solidFill>
                  <a:srgbClr val="1C3141"/>
                </a:solidFill>
                <a:latin typeface="Cambria" pitchFamily="34" charset="0"/>
                <a:ea typeface="Cambria" pitchFamily="34" charset="-122"/>
                <a:cs typeface="Cambria" pitchFamily="34" charset="-120"/>
              </a:rPr>
              <a:t>The two largest improvements came from giving the model less to do, not more.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AT SCALE</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Five million documents, about $100 a day</a:t>
            </a:r>
            <a:endParaRPr lang="en-US" sz="3200" dirty="0"/>
          </a:p>
        </p:txBody>
      </p:sp>
      <p:sp>
        <p:nvSpPr>
          <p:cNvPr id="5" name="Text 3"/>
          <p:cNvSpPr/>
          <p:nvPr/>
        </p:nvSpPr>
        <p:spPr>
          <a:xfrm>
            <a:off x="594360" y="1536192"/>
            <a:ext cx="10972800" cy="365760"/>
          </a:xfrm>
          <a:prstGeom prst="rect">
            <a:avLst/>
          </a:prstGeom>
          <a:noFill/>
          <a:ln/>
        </p:spPr>
        <p:txBody>
          <a:bodyPr wrap="square" lIns="0" tIns="0" rIns="0" bIns="0" rtlCol="0" anchor="ctr"/>
          <a:lstStyle/>
          <a:p>
            <a:pPr indent="0" marL="0">
              <a:buNone/>
            </a:pPr>
            <a:r>
              <a:rPr lang="en-US" sz="1400" dirty="0">
                <a:solidFill>
                  <a:srgbClr val="6B7A85"/>
                </a:solidFill>
                <a:latin typeface="Calibri" pitchFamily="34" charset="0"/>
                <a:ea typeface="Calibri" pitchFamily="34" charset="-122"/>
                <a:cs typeface="Calibri" pitchFamily="34" charset="-120"/>
              </a:rPr>
              <a:t>The whole architecture is a cost problem. Never ask the expensive question until the cheap ones say you must.</a:t>
            </a:r>
            <a:endParaRPr lang="en-US" sz="1400" dirty="0"/>
          </a:p>
        </p:txBody>
      </p:sp>
      <p:sp>
        <p:nvSpPr>
          <p:cNvPr id="6" name="Shape 4"/>
          <p:cNvSpPr/>
          <p:nvPr/>
        </p:nvSpPr>
        <p:spPr>
          <a:xfrm>
            <a:off x="594360" y="2057400"/>
            <a:ext cx="2640330" cy="1783080"/>
          </a:xfrm>
          <a:prstGeom prst="roundRect">
            <a:avLst>
              <a:gd name="adj" fmla="val 2051"/>
            </a:avLst>
          </a:prstGeom>
          <a:solidFill>
            <a:srgbClr val="F1F4F6"/>
          </a:solidFill>
          <a:ln w="9525">
            <a:solidFill>
              <a:srgbClr val="D8DEE3"/>
            </a:solidFill>
            <a:prstDash val="solid"/>
          </a:ln>
        </p:spPr>
      </p:sp>
      <p:sp>
        <p:nvSpPr>
          <p:cNvPr id="7" name="Text 5"/>
          <p:cNvSpPr/>
          <p:nvPr/>
        </p:nvSpPr>
        <p:spPr>
          <a:xfrm>
            <a:off x="795528" y="2240280"/>
            <a:ext cx="2237994" cy="274320"/>
          </a:xfrm>
          <a:prstGeom prst="rect">
            <a:avLst/>
          </a:prstGeom>
          <a:noFill/>
          <a:ln/>
        </p:spPr>
        <p:txBody>
          <a:bodyPr wrap="square" lIns="0" tIns="0" rIns="0" bIns="0" rtlCol="0" anchor="ctr"/>
          <a:lstStyle/>
          <a:p>
            <a:pPr indent="0" marL="0">
              <a:buNone/>
            </a:pPr>
            <a:r>
              <a:rPr lang="en-US" sz="1100" b="1" dirty="0">
                <a:solidFill>
                  <a:srgbClr val="2A4759"/>
                </a:solidFill>
                <a:latin typeface="Courier New" pitchFamily="34" charset="0"/>
                <a:ea typeface="Courier New" pitchFamily="34" charset="-122"/>
                <a:cs typeface="Courier New" pitchFamily="34" charset="-120"/>
              </a:rPr>
              <a:t>TIER 0</a:t>
            </a:r>
            <a:endParaRPr lang="en-US" sz="1100" dirty="0"/>
          </a:p>
        </p:txBody>
      </p:sp>
      <p:sp>
        <p:nvSpPr>
          <p:cNvPr id="8" name="Text 6"/>
          <p:cNvSpPr/>
          <p:nvPr/>
        </p:nvSpPr>
        <p:spPr>
          <a:xfrm>
            <a:off x="795528" y="2560320"/>
            <a:ext cx="2237994" cy="548640"/>
          </a:xfrm>
          <a:prstGeom prst="rect">
            <a:avLst/>
          </a:prstGeom>
          <a:noFill/>
          <a:ln/>
        </p:spPr>
        <p:txBody>
          <a:bodyPr wrap="square" lIns="0" tIns="0" rIns="0" bIns="0" rtlCol="0" anchor="ctr"/>
          <a:lstStyle/>
          <a:p>
            <a:pPr indent="0" marL="0">
              <a:buNone/>
            </a:pPr>
            <a:r>
              <a:rPr lang="en-US" sz="1400" b="1" dirty="0">
                <a:solidFill>
                  <a:srgbClr val="1C3141"/>
                </a:solidFill>
                <a:latin typeface="Calibri" pitchFamily="34" charset="0"/>
                <a:ea typeface="Calibri" pitchFamily="34" charset="-122"/>
                <a:cs typeface="Calibri" pitchFamily="34" charset="-120"/>
              </a:rPr>
              <a:t>Content hash</a:t>
            </a:r>
            <a:endParaRPr lang="en-US" sz="1400" dirty="0"/>
          </a:p>
        </p:txBody>
      </p:sp>
      <p:sp>
        <p:nvSpPr>
          <p:cNvPr id="9" name="Text 7"/>
          <p:cNvSpPr/>
          <p:nvPr/>
        </p:nvSpPr>
        <p:spPr>
          <a:xfrm>
            <a:off x="795528" y="3127248"/>
            <a:ext cx="2237994" cy="292608"/>
          </a:xfrm>
          <a:prstGeom prst="rect">
            <a:avLst/>
          </a:prstGeom>
          <a:noFill/>
          <a:ln/>
        </p:spPr>
        <p:txBody>
          <a:bodyPr wrap="square" lIns="0" tIns="0" rIns="0" bIns="0" rtlCol="0" anchor="ctr"/>
          <a:lstStyle/>
          <a:p>
            <a:pPr indent="0" marL="0">
              <a:buNone/>
            </a:pPr>
            <a:r>
              <a:rPr lang="en-US" sz="1200" dirty="0">
                <a:solidFill>
                  <a:srgbClr val="1C3141"/>
                </a:solidFill>
                <a:latin typeface="Courier New" pitchFamily="34" charset="0"/>
                <a:ea typeface="Courier New" pitchFamily="34" charset="-122"/>
                <a:cs typeface="Courier New" pitchFamily="34" charset="-120"/>
              </a:rPr>
              <a:t>5M → 25k</a:t>
            </a:r>
            <a:endParaRPr lang="en-US" sz="1200" dirty="0"/>
          </a:p>
        </p:txBody>
      </p:sp>
      <p:sp>
        <p:nvSpPr>
          <p:cNvPr id="10" name="Text 8"/>
          <p:cNvSpPr/>
          <p:nvPr/>
        </p:nvSpPr>
        <p:spPr>
          <a:xfrm>
            <a:off x="795528" y="3438144"/>
            <a:ext cx="2237994" cy="274320"/>
          </a:xfrm>
          <a:prstGeom prst="rect">
            <a:avLst/>
          </a:prstGeom>
          <a:noFill/>
          <a:ln/>
        </p:spPr>
        <p:txBody>
          <a:bodyPr wrap="square" lIns="0" tIns="0" rIns="0" bIns="0" rtlCol="0" anchor="ctr"/>
          <a:lstStyle/>
          <a:p>
            <a:pPr indent="0" marL="0">
              <a:buNone/>
            </a:pPr>
            <a:r>
              <a:rPr lang="en-US" sz="1200" i="1" dirty="0">
                <a:solidFill>
                  <a:srgbClr val="6B7A85"/>
                </a:solidFill>
                <a:latin typeface="Calibri" pitchFamily="34" charset="0"/>
                <a:ea typeface="Calibri" pitchFamily="34" charset="-122"/>
                <a:cs typeface="Calibri" pitchFamily="34" charset="-120"/>
              </a:rPr>
              <a:t>free</a:t>
            </a:r>
            <a:endParaRPr lang="en-US" sz="1200" dirty="0"/>
          </a:p>
        </p:txBody>
      </p:sp>
      <p:sp>
        <p:nvSpPr>
          <p:cNvPr id="11" name="Shape 9"/>
          <p:cNvSpPr/>
          <p:nvPr/>
        </p:nvSpPr>
        <p:spPr>
          <a:xfrm>
            <a:off x="3371850" y="2057400"/>
            <a:ext cx="2640330" cy="1783080"/>
          </a:xfrm>
          <a:prstGeom prst="roundRect">
            <a:avLst>
              <a:gd name="adj" fmla="val 2051"/>
            </a:avLst>
          </a:prstGeom>
          <a:solidFill>
            <a:srgbClr val="F1F4F6"/>
          </a:solidFill>
          <a:ln w="9525">
            <a:solidFill>
              <a:srgbClr val="D8DEE3"/>
            </a:solidFill>
            <a:prstDash val="solid"/>
          </a:ln>
        </p:spPr>
      </p:sp>
      <p:sp>
        <p:nvSpPr>
          <p:cNvPr id="12" name="Text 10"/>
          <p:cNvSpPr/>
          <p:nvPr/>
        </p:nvSpPr>
        <p:spPr>
          <a:xfrm>
            <a:off x="3573018" y="2240280"/>
            <a:ext cx="2237994" cy="274320"/>
          </a:xfrm>
          <a:prstGeom prst="rect">
            <a:avLst/>
          </a:prstGeom>
          <a:noFill/>
          <a:ln/>
        </p:spPr>
        <p:txBody>
          <a:bodyPr wrap="square" lIns="0" tIns="0" rIns="0" bIns="0" rtlCol="0" anchor="ctr"/>
          <a:lstStyle/>
          <a:p>
            <a:pPr indent="0" marL="0">
              <a:buNone/>
            </a:pPr>
            <a:r>
              <a:rPr lang="en-US" sz="1100" b="1" dirty="0">
                <a:solidFill>
                  <a:srgbClr val="2A4759"/>
                </a:solidFill>
                <a:latin typeface="Courier New" pitchFamily="34" charset="0"/>
                <a:ea typeface="Courier New" pitchFamily="34" charset="-122"/>
                <a:cs typeface="Courier New" pitchFamily="34" charset="-120"/>
              </a:rPr>
              <a:t>TIER 1</a:t>
            </a:r>
            <a:endParaRPr lang="en-US" sz="1100" dirty="0"/>
          </a:p>
        </p:txBody>
      </p:sp>
      <p:sp>
        <p:nvSpPr>
          <p:cNvPr id="13" name="Text 11"/>
          <p:cNvSpPr/>
          <p:nvPr/>
        </p:nvSpPr>
        <p:spPr>
          <a:xfrm>
            <a:off x="3573018" y="2560320"/>
            <a:ext cx="2237994" cy="548640"/>
          </a:xfrm>
          <a:prstGeom prst="rect">
            <a:avLst/>
          </a:prstGeom>
          <a:noFill/>
          <a:ln/>
        </p:spPr>
        <p:txBody>
          <a:bodyPr wrap="square" lIns="0" tIns="0" rIns="0" bIns="0" rtlCol="0" anchor="ctr"/>
          <a:lstStyle/>
          <a:p>
            <a:pPr indent="0" marL="0">
              <a:buNone/>
            </a:pPr>
            <a:r>
              <a:rPr lang="en-US" sz="1400" b="1" dirty="0">
                <a:solidFill>
                  <a:srgbClr val="1C3141"/>
                </a:solidFill>
                <a:latin typeface="Calibri" pitchFamily="34" charset="0"/>
                <a:ea typeface="Calibri" pitchFamily="34" charset="-122"/>
                <a:cs typeface="Calibri" pitchFamily="34" charset="-120"/>
              </a:rPr>
              <a:t>Canonical form</a:t>
            </a:r>
            <a:endParaRPr lang="en-US" sz="1400" dirty="0"/>
          </a:p>
        </p:txBody>
      </p:sp>
      <p:sp>
        <p:nvSpPr>
          <p:cNvPr id="14" name="Text 12"/>
          <p:cNvSpPr/>
          <p:nvPr/>
        </p:nvSpPr>
        <p:spPr>
          <a:xfrm>
            <a:off x="3573018" y="3127248"/>
            <a:ext cx="2237994" cy="292608"/>
          </a:xfrm>
          <a:prstGeom prst="rect">
            <a:avLst/>
          </a:prstGeom>
          <a:noFill/>
          <a:ln/>
        </p:spPr>
        <p:txBody>
          <a:bodyPr wrap="square" lIns="0" tIns="0" rIns="0" bIns="0" rtlCol="0" anchor="ctr"/>
          <a:lstStyle/>
          <a:p>
            <a:pPr indent="0" marL="0">
              <a:buNone/>
            </a:pPr>
            <a:r>
              <a:rPr lang="en-US" sz="1200" dirty="0">
                <a:solidFill>
                  <a:srgbClr val="1C3141"/>
                </a:solidFill>
                <a:latin typeface="Courier New" pitchFamily="34" charset="0"/>
                <a:ea typeface="Courier New" pitchFamily="34" charset="-122"/>
                <a:cs typeface="Courier New" pitchFamily="34" charset="-120"/>
              </a:rPr>
              <a:t>25k → 25k</a:t>
            </a:r>
            <a:endParaRPr lang="en-US" sz="1200" dirty="0"/>
          </a:p>
        </p:txBody>
      </p:sp>
      <p:sp>
        <p:nvSpPr>
          <p:cNvPr id="15" name="Text 13"/>
          <p:cNvSpPr/>
          <p:nvPr/>
        </p:nvSpPr>
        <p:spPr>
          <a:xfrm>
            <a:off x="3573018" y="3438144"/>
            <a:ext cx="2237994" cy="274320"/>
          </a:xfrm>
          <a:prstGeom prst="rect">
            <a:avLst/>
          </a:prstGeom>
          <a:noFill/>
          <a:ln/>
        </p:spPr>
        <p:txBody>
          <a:bodyPr wrap="square" lIns="0" tIns="0" rIns="0" bIns="0" rtlCol="0" anchor="ctr"/>
          <a:lstStyle/>
          <a:p>
            <a:pPr indent="0" marL="0">
              <a:buNone/>
            </a:pPr>
            <a:r>
              <a:rPr lang="en-US" sz="1200" i="1" dirty="0">
                <a:solidFill>
                  <a:srgbClr val="6B7A85"/>
                </a:solidFill>
                <a:latin typeface="Calibri" pitchFamily="34" charset="0"/>
                <a:ea typeface="Calibri" pitchFamily="34" charset="-122"/>
                <a:cs typeface="Calibri" pitchFamily="34" charset="-120"/>
              </a:rPr>
              <a:t>free</a:t>
            </a:r>
            <a:endParaRPr lang="en-US" sz="1200" dirty="0"/>
          </a:p>
        </p:txBody>
      </p:sp>
      <p:sp>
        <p:nvSpPr>
          <p:cNvPr id="16" name="Shape 14"/>
          <p:cNvSpPr/>
          <p:nvPr/>
        </p:nvSpPr>
        <p:spPr>
          <a:xfrm>
            <a:off x="6149340" y="2057400"/>
            <a:ext cx="2640330" cy="1783080"/>
          </a:xfrm>
          <a:prstGeom prst="roundRect">
            <a:avLst>
              <a:gd name="adj" fmla="val 2051"/>
            </a:avLst>
          </a:prstGeom>
          <a:solidFill>
            <a:srgbClr val="F1F4F6"/>
          </a:solidFill>
          <a:ln w="9525">
            <a:solidFill>
              <a:srgbClr val="D8DEE3"/>
            </a:solidFill>
            <a:prstDash val="solid"/>
          </a:ln>
        </p:spPr>
      </p:sp>
      <p:sp>
        <p:nvSpPr>
          <p:cNvPr id="17" name="Text 15"/>
          <p:cNvSpPr/>
          <p:nvPr/>
        </p:nvSpPr>
        <p:spPr>
          <a:xfrm>
            <a:off x="6350508" y="2240280"/>
            <a:ext cx="2237994" cy="274320"/>
          </a:xfrm>
          <a:prstGeom prst="rect">
            <a:avLst/>
          </a:prstGeom>
          <a:noFill/>
          <a:ln/>
        </p:spPr>
        <p:txBody>
          <a:bodyPr wrap="square" lIns="0" tIns="0" rIns="0" bIns="0" rtlCol="0" anchor="ctr"/>
          <a:lstStyle/>
          <a:p>
            <a:pPr indent="0" marL="0">
              <a:buNone/>
            </a:pPr>
            <a:r>
              <a:rPr lang="en-US" sz="1100" b="1" dirty="0">
                <a:solidFill>
                  <a:srgbClr val="9A7420"/>
                </a:solidFill>
                <a:latin typeface="Courier New" pitchFamily="34" charset="0"/>
                <a:ea typeface="Courier New" pitchFamily="34" charset="-122"/>
                <a:cs typeface="Courier New" pitchFamily="34" charset="-120"/>
              </a:rPr>
              <a:t>TIER 2</a:t>
            </a:r>
            <a:endParaRPr lang="en-US" sz="1100" dirty="0"/>
          </a:p>
        </p:txBody>
      </p:sp>
      <p:sp>
        <p:nvSpPr>
          <p:cNvPr id="18" name="Text 16"/>
          <p:cNvSpPr/>
          <p:nvPr/>
        </p:nvSpPr>
        <p:spPr>
          <a:xfrm>
            <a:off x="6350508" y="2560320"/>
            <a:ext cx="2237994" cy="548640"/>
          </a:xfrm>
          <a:prstGeom prst="rect">
            <a:avLst/>
          </a:prstGeom>
          <a:noFill/>
          <a:ln/>
        </p:spPr>
        <p:txBody>
          <a:bodyPr wrap="square" lIns="0" tIns="0" rIns="0" bIns="0" rtlCol="0" anchor="ctr"/>
          <a:lstStyle/>
          <a:p>
            <a:pPr indent="0" marL="0">
              <a:buNone/>
            </a:pPr>
            <a:r>
              <a:rPr lang="en-US" sz="1400" b="1" dirty="0">
                <a:solidFill>
                  <a:srgbClr val="1C3141"/>
                </a:solidFill>
                <a:latin typeface="Calibri" pitchFamily="34" charset="0"/>
                <a:ea typeface="Calibri" pitchFamily="34" charset="-122"/>
                <a:cs typeface="Calibri" pitchFamily="34" charset="-120"/>
              </a:rPr>
              <a:t>Substantive or cosmetic?</a:t>
            </a:r>
            <a:endParaRPr lang="en-US" sz="1400" dirty="0"/>
          </a:p>
        </p:txBody>
      </p:sp>
      <p:sp>
        <p:nvSpPr>
          <p:cNvPr id="19" name="Text 17"/>
          <p:cNvSpPr/>
          <p:nvPr/>
        </p:nvSpPr>
        <p:spPr>
          <a:xfrm>
            <a:off x="6350508" y="3127248"/>
            <a:ext cx="2237994" cy="292608"/>
          </a:xfrm>
          <a:prstGeom prst="rect">
            <a:avLst/>
          </a:prstGeom>
          <a:noFill/>
          <a:ln/>
        </p:spPr>
        <p:txBody>
          <a:bodyPr wrap="square" lIns="0" tIns="0" rIns="0" bIns="0" rtlCol="0" anchor="ctr"/>
          <a:lstStyle/>
          <a:p>
            <a:pPr indent="0" marL="0">
              <a:buNone/>
            </a:pPr>
            <a:r>
              <a:rPr lang="en-US" sz="1200" dirty="0">
                <a:solidFill>
                  <a:srgbClr val="1C3141"/>
                </a:solidFill>
                <a:latin typeface="Courier New" pitchFamily="34" charset="0"/>
                <a:ea typeface="Courier New" pitchFamily="34" charset="-122"/>
                <a:cs typeface="Courier New" pitchFamily="34" charset="-120"/>
              </a:rPr>
              <a:t>25k → 5k</a:t>
            </a:r>
            <a:endParaRPr lang="en-US" sz="1200" dirty="0"/>
          </a:p>
        </p:txBody>
      </p:sp>
      <p:sp>
        <p:nvSpPr>
          <p:cNvPr id="20" name="Text 18"/>
          <p:cNvSpPr/>
          <p:nvPr/>
        </p:nvSpPr>
        <p:spPr>
          <a:xfrm>
            <a:off x="6350508" y="3438144"/>
            <a:ext cx="2237994" cy="274320"/>
          </a:xfrm>
          <a:prstGeom prst="rect">
            <a:avLst/>
          </a:prstGeom>
          <a:noFill/>
          <a:ln/>
        </p:spPr>
        <p:txBody>
          <a:bodyPr wrap="square" lIns="0" tIns="0" rIns="0" bIns="0" rtlCol="0" anchor="ctr"/>
          <a:lstStyle/>
          <a:p>
            <a:pPr indent="0" marL="0">
              <a:buNone/>
            </a:pPr>
            <a:r>
              <a:rPr lang="en-US" sz="1200" i="1" dirty="0">
                <a:solidFill>
                  <a:srgbClr val="6B7A85"/>
                </a:solidFill>
                <a:latin typeface="Calibri" pitchFamily="34" charset="0"/>
                <a:ea typeface="Calibri" pitchFamily="34" charset="-122"/>
                <a:cs typeface="Calibri" pitchFamily="34" charset="-120"/>
              </a:rPr>
              <a:t>cents</a:t>
            </a:r>
            <a:endParaRPr lang="en-US" sz="1200" dirty="0"/>
          </a:p>
        </p:txBody>
      </p:sp>
      <p:sp>
        <p:nvSpPr>
          <p:cNvPr id="21" name="Shape 19"/>
          <p:cNvSpPr/>
          <p:nvPr/>
        </p:nvSpPr>
        <p:spPr>
          <a:xfrm>
            <a:off x="8926830" y="2057400"/>
            <a:ext cx="2640330" cy="1783080"/>
          </a:xfrm>
          <a:prstGeom prst="roundRect">
            <a:avLst>
              <a:gd name="adj" fmla="val 2051"/>
            </a:avLst>
          </a:prstGeom>
          <a:solidFill>
            <a:srgbClr val="F1F4F6"/>
          </a:solidFill>
          <a:ln w="9525">
            <a:solidFill>
              <a:srgbClr val="D8DEE3"/>
            </a:solidFill>
            <a:prstDash val="solid"/>
          </a:ln>
        </p:spPr>
      </p:sp>
      <p:sp>
        <p:nvSpPr>
          <p:cNvPr id="22" name="Text 20"/>
          <p:cNvSpPr/>
          <p:nvPr/>
        </p:nvSpPr>
        <p:spPr>
          <a:xfrm>
            <a:off x="9127998" y="2240280"/>
            <a:ext cx="2237994" cy="274320"/>
          </a:xfrm>
          <a:prstGeom prst="rect">
            <a:avLst/>
          </a:prstGeom>
          <a:noFill/>
          <a:ln/>
        </p:spPr>
        <p:txBody>
          <a:bodyPr wrap="square" lIns="0" tIns="0" rIns="0" bIns="0" rtlCol="0" anchor="ctr"/>
          <a:lstStyle/>
          <a:p>
            <a:pPr indent="0" marL="0">
              <a:buNone/>
            </a:pPr>
            <a:r>
              <a:rPr lang="en-US" sz="1100" b="1" dirty="0">
                <a:solidFill>
                  <a:srgbClr val="B4453A"/>
                </a:solidFill>
                <a:latin typeface="Courier New" pitchFamily="34" charset="0"/>
                <a:ea typeface="Courier New" pitchFamily="34" charset="-122"/>
                <a:cs typeface="Courier New" pitchFamily="34" charset="-120"/>
              </a:rPr>
              <a:t>TIER 3</a:t>
            </a:r>
            <a:endParaRPr lang="en-US" sz="1100" dirty="0"/>
          </a:p>
        </p:txBody>
      </p:sp>
      <p:sp>
        <p:nvSpPr>
          <p:cNvPr id="23" name="Text 21"/>
          <p:cNvSpPr/>
          <p:nvPr/>
        </p:nvSpPr>
        <p:spPr>
          <a:xfrm>
            <a:off x="9127998" y="2560320"/>
            <a:ext cx="2237994" cy="548640"/>
          </a:xfrm>
          <a:prstGeom prst="rect">
            <a:avLst/>
          </a:prstGeom>
          <a:noFill/>
          <a:ln/>
        </p:spPr>
        <p:txBody>
          <a:bodyPr wrap="square" lIns="0" tIns="0" rIns="0" bIns="0" rtlCol="0" anchor="ctr"/>
          <a:lstStyle/>
          <a:p>
            <a:pPr indent="0" marL="0">
              <a:buNone/>
            </a:pPr>
            <a:r>
              <a:rPr lang="en-US" sz="1400" b="1" dirty="0">
                <a:solidFill>
                  <a:srgbClr val="1C3141"/>
                </a:solidFill>
                <a:latin typeface="Calibri" pitchFamily="34" charset="0"/>
                <a:ea typeface="Calibri" pitchFamily="34" charset="-122"/>
                <a:cs typeface="Calibri" pitchFamily="34" charset="-120"/>
              </a:rPr>
              <a:t>Does it break a rule?</a:t>
            </a:r>
            <a:endParaRPr lang="en-US" sz="1400" dirty="0"/>
          </a:p>
        </p:txBody>
      </p:sp>
      <p:sp>
        <p:nvSpPr>
          <p:cNvPr id="24" name="Text 22"/>
          <p:cNvSpPr/>
          <p:nvPr/>
        </p:nvSpPr>
        <p:spPr>
          <a:xfrm>
            <a:off x="9127998" y="3127248"/>
            <a:ext cx="2237994" cy="292608"/>
          </a:xfrm>
          <a:prstGeom prst="rect">
            <a:avLst/>
          </a:prstGeom>
          <a:noFill/>
          <a:ln/>
        </p:spPr>
        <p:txBody>
          <a:bodyPr wrap="square" lIns="0" tIns="0" rIns="0" bIns="0" rtlCol="0" anchor="ctr"/>
          <a:lstStyle/>
          <a:p>
            <a:pPr indent="0" marL="0">
              <a:buNone/>
            </a:pPr>
            <a:r>
              <a:rPr lang="en-US" sz="1200" dirty="0">
                <a:solidFill>
                  <a:srgbClr val="1C3141"/>
                </a:solidFill>
                <a:latin typeface="Courier New" pitchFamily="34" charset="0"/>
                <a:ea typeface="Courier New" pitchFamily="34" charset="-122"/>
                <a:cs typeface="Courier New" pitchFamily="34" charset="-120"/>
              </a:rPr>
              <a:t>~15k questions</a:t>
            </a:r>
            <a:endParaRPr lang="en-US" sz="1200" dirty="0"/>
          </a:p>
        </p:txBody>
      </p:sp>
      <p:sp>
        <p:nvSpPr>
          <p:cNvPr id="25" name="Text 23"/>
          <p:cNvSpPr/>
          <p:nvPr/>
        </p:nvSpPr>
        <p:spPr>
          <a:xfrm>
            <a:off x="9127998" y="3438144"/>
            <a:ext cx="2237994" cy="274320"/>
          </a:xfrm>
          <a:prstGeom prst="rect">
            <a:avLst/>
          </a:prstGeom>
          <a:noFill/>
          <a:ln/>
        </p:spPr>
        <p:txBody>
          <a:bodyPr wrap="square" lIns="0" tIns="0" rIns="0" bIns="0" rtlCol="0" anchor="ctr"/>
          <a:lstStyle/>
          <a:p>
            <a:pPr indent="0" marL="0">
              <a:buNone/>
            </a:pPr>
            <a:r>
              <a:rPr lang="en-US" sz="1200" i="1" dirty="0">
                <a:solidFill>
                  <a:srgbClr val="6B7A85"/>
                </a:solidFill>
                <a:latin typeface="Calibri" pitchFamily="34" charset="0"/>
                <a:ea typeface="Calibri" pitchFamily="34" charset="-122"/>
                <a:cs typeface="Calibri" pitchFamily="34" charset="-120"/>
              </a:rPr>
              <a:t>dollars</a:t>
            </a:r>
            <a:endParaRPr lang="en-US" sz="1200" dirty="0"/>
          </a:p>
        </p:txBody>
      </p:sp>
      <p:sp>
        <p:nvSpPr>
          <p:cNvPr id="26" name="Text 24"/>
          <p:cNvSpPr/>
          <p:nvPr/>
        </p:nvSpPr>
        <p:spPr>
          <a:xfrm>
            <a:off x="594360" y="4069080"/>
            <a:ext cx="10972800" cy="365760"/>
          </a:xfrm>
          <a:prstGeom prst="rect">
            <a:avLst/>
          </a:prstGeom>
          <a:noFill/>
          <a:ln/>
        </p:spPr>
        <p:txBody>
          <a:bodyPr wrap="square" lIns="0" tIns="0" rIns="0" bIns="0" rtlCol="0" anchor="ctr"/>
          <a:lstStyle/>
          <a:p>
            <a:pPr indent="0" marL="0">
              <a:buNone/>
            </a:pPr>
            <a:r>
              <a:rPr lang="en-US" sz="1350" dirty="0">
                <a:solidFill>
                  <a:srgbClr val="1C3141"/>
                </a:solidFill>
                <a:latin typeface="Calibri" pitchFamily="34" charset="0"/>
                <a:ea typeface="Calibri" pitchFamily="34" charset="-122"/>
                <a:cs typeface="Calibri" pitchFamily="34" charset="-120"/>
              </a:rPr>
              <a:t>Proven on the real 2024 pair: hashing failed, whitespace normalisation failed, the canonical form settled it. Zero model calls.</a:t>
            </a:r>
            <a:endParaRPr lang="en-US" sz="1350" dirty="0"/>
          </a:p>
        </p:txBody>
      </p:sp>
      <p:sp>
        <p:nvSpPr>
          <p:cNvPr id="27" name="Text 25"/>
          <p:cNvSpPr/>
          <p:nvPr/>
        </p:nvSpPr>
        <p:spPr>
          <a:xfrm>
            <a:off x="594360" y="4572000"/>
            <a:ext cx="10972800" cy="68580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Also required: a provenance graph from any document version to every rule derived from it, immutable versioned rules for point-in-time appeal defence, and promotion through shadow mode before an edit affects payment.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RECOMMENDATIONS</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What I would have Cotiviti do</a:t>
            </a:r>
            <a:endParaRPr lang="en-US" sz="3200" dirty="0"/>
          </a:p>
        </p:txBody>
      </p:sp>
      <p:sp>
        <p:nvSpPr>
          <p:cNvPr id="5" name="Text 3"/>
          <p:cNvSpPr/>
          <p:nvPr/>
        </p:nvSpPr>
        <p:spPr>
          <a:xfrm>
            <a:off x="594360" y="1737360"/>
            <a:ext cx="731520" cy="548640"/>
          </a:xfrm>
          <a:prstGeom prst="rect">
            <a:avLst/>
          </a:prstGeom>
          <a:noFill/>
          <a:ln/>
        </p:spPr>
        <p:txBody>
          <a:bodyPr wrap="square" lIns="0" tIns="0" rIns="0" bIns="0" rtlCol="0" anchor="ctr"/>
          <a:lstStyle/>
          <a:p>
            <a:pPr indent="0" marL="0">
              <a:buNone/>
            </a:pPr>
            <a:r>
              <a:rPr lang="en-US" sz="2800" b="1" dirty="0">
                <a:solidFill>
                  <a:srgbClr val="B4453A"/>
                </a:solidFill>
                <a:latin typeface="Cambria" pitchFamily="34" charset="0"/>
                <a:ea typeface="Cambria" pitchFamily="34" charset="-122"/>
                <a:cs typeface="Cambria" pitchFamily="34" charset="-120"/>
              </a:rPr>
              <a:t>01</a:t>
            </a:r>
            <a:endParaRPr lang="en-US" sz="2800" dirty="0"/>
          </a:p>
        </p:txBody>
      </p:sp>
      <p:sp>
        <p:nvSpPr>
          <p:cNvPr id="6" name="Text 4"/>
          <p:cNvSpPr/>
          <p:nvPr/>
        </p:nvSpPr>
        <p:spPr>
          <a:xfrm>
            <a:off x="1463040" y="1691640"/>
            <a:ext cx="3931920" cy="777240"/>
          </a:xfrm>
          <a:prstGeom prst="rect">
            <a:avLst/>
          </a:prstGeom>
          <a:noFill/>
          <a:ln/>
        </p:spPr>
        <p:txBody>
          <a:bodyPr wrap="square" lIns="0" tIns="0" rIns="0" bIns="0" rtlCol="0" anchor="ctr"/>
          <a:lstStyle/>
          <a:p>
            <a:pPr indent="0" marL="0">
              <a:buNone/>
            </a:pPr>
            <a:r>
              <a:rPr lang="en-US" sz="1650" b="1" dirty="0">
                <a:solidFill>
                  <a:srgbClr val="1C3141"/>
                </a:solidFill>
                <a:latin typeface="Calibri" pitchFamily="34" charset="0"/>
                <a:ea typeface="Calibri" pitchFamily="34" charset="-122"/>
                <a:cs typeface="Calibri" pitchFamily="34" charset="-120"/>
              </a:rPr>
              <a:t>Monitor the edit library you already have</a:t>
            </a:r>
            <a:endParaRPr lang="en-US" sz="1650" dirty="0"/>
          </a:p>
        </p:txBody>
      </p:sp>
      <p:sp>
        <p:nvSpPr>
          <p:cNvPr id="7" name="Text 5"/>
          <p:cNvSpPr/>
          <p:nvPr/>
        </p:nvSpPr>
        <p:spPr>
          <a:xfrm>
            <a:off x="5532120" y="1673352"/>
            <a:ext cx="6035040" cy="109728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Not an authoring product. A service that watches source documents and returns a ranked worklist of edits a revision has invalidated, priced by replaying recent claims. It replaces nothing and fails safe.</a:t>
            </a:r>
            <a:endParaRPr lang="en-US" sz="1300" dirty="0"/>
          </a:p>
        </p:txBody>
      </p:sp>
      <p:sp>
        <p:nvSpPr>
          <p:cNvPr id="8" name="Text 6"/>
          <p:cNvSpPr/>
          <p:nvPr/>
        </p:nvSpPr>
        <p:spPr>
          <a:xfrm>
            <a:off x="594360" y="3035808"/>
            <a:ext cx="731520" cy="548640"/>
          </a:xfrm>
          <a:prstGeom prst="rect">
            <a:avLst/>
          </a:prstGeom>
          <a:noFill/>
          <a:ln/>
        </p:spPr>
        <p:txBody>
          <a:bodyPr wrap="square" lIns="0" tIns="0" rIns="0" bIns="0" rtlCol="0" anchor="ctr"/>
          <a:lstStyle/>
          <a:p>
            <a:pPr indent="0" marL="0">
              <a:buNone/>
            </a:pPr>
            <a:r>
              <a:rPr lang="en-US" sz="2800" b="1" dirty="0">
                <a:solidFill>
                  <a:srgbClr val="D8DEE3"/>
                </a:solidFill>
                <a:latin typeface="Cambria" pitchFamily="34" charset="0"/>
                <a:ea typeface="Cambria" pitchFamily="34" charset="-122"/>
                <a:cs typeface="Cambria" pitchFamily="34" charset="-120"/>
              </a:rPr>
              <a:t>02</a:t>
            </a:r>
            <a:endParaRPr lang="en-US" sz="2800" dirty="0"/>
          </a:p>
        </p:txBody>
      </p:sp>
      <p:sp>
        <p:nvSpPr>
          <p:cNvPr id="9" name="Text 7"/>
          <p:cNvSpPr/>
          <p:nvPr/>
        </p:nvSpPr>
        <p:spPr>
          <a:xfrm>
            <a:off x="1463040" y="2990088"/>
            <a:ext cx="3931920" cy="777240"/>
          </a:xfrm>
          <a:prstGeom prst="rect">
            <a:avLst/>
          </a:prstGeom>
          <a:noFill/>
          <a:ln/>
        </p:spPr>
        <p:txBody>
          <a:bodyPr wrap="square" lIns="0" tIns="0" rIns="0" bIns="0" rtlCol="0" anchor="ctr"/>
          <a:lstStyle/>
          <a:p>
            <a:pPr indent="0" marL="0">
              <a:buNone/>
            </a:pPr>
            <a:r>
              <a:rPr lang="en-US" sz="1650" b="1" dirty="0">
                <a:solidFill>
                  <a:srgbClr val="1C3141"/>
                </a:solidFill>
                <a:latin typeface="Calibri" pitchFamily="34" charset="0"/>
                <a:ea typeface="Calibri" pitchFamily="34" charset="-122"/>
                <a:cs typeface="Calibri" pitchFamily="34" charset="-120"/>
              </a:rPr>
              <a:t>Treat rules as code</a:t>
            </a:r>
            <a:endParaRPr lang="en-US" sz="1650" dirty="0"/>
          </a:p>
        </p:txBody>
      </p:sp>
      <p:sp>
        <p:nvSpPr>
          <p:cNvPr id="10" name="Text 8"/>
          <p:cNvSpPr/>
          <p:nvPr/>
        </p:nvSpPr>
        <p:spPr>
          <a:xfrm>
            <a:off x="5532120" y="2971800"/>
            <a:ext cx="6035040" cy="109728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Immutable versioned rules, point-in-time adjudication, promotion through shadow and canary before an edit affects payment. This is what makes automation defensible to a regulator and an appeals board.</a:t>
            </a:r>
            <a:endParaRPr lang="en-US" sz="1300" dirty="0"/>
          </a:p>
        </p:txBody>
      </p:sp>
      <p:sp>
        <p:nvSpPr>
          <p:cNvPr id="11" name="Text 9"/>
          <p:cNvSpPr/>
          <p:nvPr/>
        </p:nvSpPr>
        <p:spPr>
          <a:xfrm>
            <a:off x="594360" y="4334256"/>
            <a:ext cx="731520" cy="548640"/>
          </a:xfrm>
          <a:prstGeom prst="rect">
            <a:avLst/>
          </a:prstGeom>
          <a:noFill/>
          <a:ln/>
        </p:spPr>
        <p:txBody>
          <a:bodyPr wrap="square" lIns="0" tIns="0" rIns="0" bIns="0" rtlCol="0" anchor="ctr"/>
          <a:lstStyle/>
          <a:p>
            <a:pPr indent="0" marL="0">
              <a:buNone/>
            </a:pPr>
            <a:r>
              <a:rPr lang="en-US" sz="2800" b="1" dirty="0">
                <a:solidFill>
                  <a:srgbClr val="D8DEE3"/>
                </a:solidFill>
                <a:latin typeface="Cambria" pitchFamily="34" charset="0"/>
                <a:ea typeface="Cambria" pitchFamily="34" charset="-122"/>
                <a:cs typeface="Cambria" pitchFamily="34" charset="-120"/>
              </a:rPr>
              <a:t>03</a:t>
            </a:r>
            <a:endParaRPr lang="en-US" sz="2800" dirty="0"/>
          </a:p>
        </p:txBody>
      </p:sp>
      <p:sp>
        <p:nvSpPr>
          <p:cNvPr id="12" name="Text 10"/>
          <p:cNvSpPr/>
          <p:nvPr/>
        </p:nvSpPr>
        <p:spPr>
          <a:xfrm>
            <a:off x="1463040" y="4288536"/>
            <a:ext cx="3931920" cy="777240"/>
          </a:xfrm>
          <a:prstGeom prst="rect">
            <a:avLst/>
          </a:prstGeom>
          <a:noFill/>
          <a:ln/>
        </p:spPr>
        <p:txBody>
          <a:bodyPr wrap="square" lIns="0" tIns="0" rIns="0" bIns="0" rtlCol="0" anchor="ctr"/>
          <a:lstStyle/>
          <a:p>
            <a:pPr indent="0" marL="0">
              <a:buNone/>
            </a:pPr>
            <a:r>
              <a:rPr lang="en-US" sz="1650" b="1" dirty="0">
                <a:solidFill>
                  <a:srgbClr val="1C3141"/>
                </a:solidFill>
                <a:latin typeface="Calibri" pitchFamily="34" charset="0"/>
                <a:ea typeface="Calibri" pitchFamily="34" charset="-122"/>
                <a:cs typeface="Calibri" pitchFamily="34" charset="-120"/>
              </a:rPr>
              <a:t>Invest in the claim vocabulary, not the model</a:t>
            </a:r>
            <a:endParaRPr lang="en-US" sz="1650" dirty="0"/>
          </a:p>
        </p:txBody>
      </p:sp>
      <p:sp>
        <p:nvSpPr>
          <p:cNvPr id="13" name="Text 11"/>
          <p:cNvSpPr/>
          <p:nvPr/>
        </p:nvSpPr>
        <p:spPr>
          <a:xfrm>
            <a:off x="5532120" y="4270248"/>
            <a:ext cx="6035040" cy="1097280"/>
          </a:xfrm>
          <a:prstGeom prst="rect">
            <a:avLst/>
          </a:prstGeom>
          <a:noFill/>
          <a:ln/>
        </p:spPr>
        <p:txBody>
          <a:bodyPr wrap="square" lIns="0" tIns="0" rIns="0" bIns="0" rtlCol="0" anchor="ctr"/>
          <a:lstStyle/>
          <a:p>
            <a:pPr indent="0" marL="0">
              <a:buNone/>
            </a:pPr>
            <a:r>
              <a:rPr lang="en-US" sz="1300" dirty="0">
                <a:solidFill>
                  <a:srgbClr val="6B7A85"/>
                </a:solidFill>
                <a:latin typeface="Calibri" pitchFamily="34" charset="0"/>
                <a:ea typeface="Calibri" pitchFamily="34" charset="-122"/>
                <a:cs typeface="Calibri" pitchFamily="34" charset="-120"/>
              </a:rPr>
              <a:t>The pipeline generalised across documents unchanged. The schema was the only part that needed authoring and the only part that limited what could be encoded. Models are rented. A vocabulary tied to an installed base is not.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94360" y="411480"/>
            <a:ext cx="91440" cy="91440"/>
          </a:xfrm>
          <a:prstGeom prst="rect">
            <a:avLst/>
          </a:prstGeom>
          <a:solidFill>
            <a:srgbClr val="1C3141"/>
          </a:solidFill>
          <a:ln/>
        </p:spPr>
      </p:sp>
      <p:sp>
        <p:nvSpPr>
          <p:cNvPr id="3" name="Text 1"/>
          <p:cNvSpPr/>
          <p:nvPr/>
        </p:nvSpPr>
        <p:spPr>
          <a:xfrm>
            <a:off x="777240" y="292608"/>
            <a:ext cx="7315200" cy="310896"/>
          </a:xfrm>
          <a:prstGeom prst="rect">
            <a:avLst/>
          </a:prstGeom>
          <a:noFill/>
          <a:ln/>
        </p:spPr>
        <p:txBody>
          <a:bodyPr wrap="square" lIns="0" tIns="0" rIns="0" bIns="0" rtlCol="0" anchor="ctr"/>
          <a:lstStyle/>
          <a:p>
            <a:pPr indent="0" marL="0">
              <a:buNone/>
            </a:pPr>
            <a:r>
              <a:rPr lang="en-US" sz="1100" spc="60" kern="0" dirty="0">
                <a:solidFill>
                  <a:srgbClr val="6B7A85"/>
                </a:solidFill>
                <a:latin typeface="Courier New" pitchFamily="34" charset="0"/>
                <a:ea typeface="Courier New" pitchFamily="34" charset="-122"/>
                <a:cs typeface="Courier New" pitchFamily="34" charset="-120"/>
              </a:rPr>
              <a:t>LIMITATIONS</a:t>
            </a:r>
            <a:endParaRPr lang="en-US" sz="1100" dirty="0"/>
          </a:p>
        </p:txBody>
      </p:sp>
      <p:sp>
        <p:nvSpPr>
          <p:cNvPr id="4" name="Text 2"/>
          <p:cNvSpPr/>
          <p:nvPr/>
        </p:nvSpPr>
        <p:spPr>
          <a:xfrm>
            <a:off x="594360" y="658368"/>
            <a:ext cx="10972800" cy="777240"/>
          </a:xfrm>
          <a:prstGeom prst="rect">
            <a:avLst/>
          </a:prstGeom>
          <a:noFill/>
          <a:ln/>
        </p:spPr>
        <p:txBody>
          <a:bodyPr wrap="square" lIns="0" tIns="0" rIns="0" bIns="0" rtlCol="0" anchor="t"/>
          <a:lstStyle/>
          <a:p>
            <a:pPr indent="0" marL="0">
              <a:buNone/>
            </a:pPr>
            <a:r>
              <a:rPr lang="en-US" sz="3200" b="1" dirty="0">
                <a:solidFill>
                  <a:srgbClr val="1C3141"/>
                </a:solidFill>
                <a:latin typeface="Cambria" pitchFamily="34" charset="0"/>
                <a:ea typeface="Cambria" pitchFamily="34" charset="-122"/>
                <a:cs typeface="Cambria" pitchFamily="34" charset="-120"/>
              </a:rPr>
              <a:t>What this does not prove</a:t>
            </a:r>
            <a:endParaRPr lang="en-US" sz="3200" dirty="0"/>
          </a:p>
        </p:txBody>
      </p:sp>
      <p:sp>
        <p:nvSpPr>
          <p:cNvPr id="5" name="Shape 3"/>
          <p:cNvSpPr/>
          <p:nvPr/>
        </p:nvSpPr>
        <p:spPr>
          <a:xfrm>
            <a:off x="594360" y="1883664"/>
            <a:ext cx="64008" cy="64008"/>
          </a:xfrm>
          <a:prstGeom prst="rect">
            <a:avLst/>
          </a:prstGeom>
          <a:solidFill>
            <a:srgbClr val="6B7A85"/>
          </a:solidFill>
          <a:ln/>
        </p:spPr>
      </p:sp>
      <p:sp>
        <p:nvSpPr>
          <p:cNvPr id="6" name="Text 4"/>
          <p:cNvSpPr/>
          <p:nvPr/>
        </p:nvSpPr>
        <p:spPr>
          <a:xfrm>
            <a:off x="868680" y="1737360"/>
            <a:ext cx="10698480" cy="658368"/>
          </a:xfrm>
          <a:prstGeom prst="rect">
            <a:avLst/>
          </a:prstGeom>
          <a:noFill/>
          <a:ln/>
        </p:spPr>
        <p:txBody>
          <a:bodyPr wrap="square" lIns="0" tIns="0" rIns="0" bIns="0" rtlCol="0" anchor="ctr"/>
          <a:lstStyle/>
          <a:p>
            <a:pPr indent="0" marL="0">
              <a:buNone/>
            </a:pPr>
            <a:r>
              <a:rPr lang="en-US" sz="1400" dirty="0">
                <a:solidFill>
                  <a:srgbClr val="1C3141"/>
                </a:solidFill>
                <a:latin typeface="Calibri" pitchFamily="34" charset="0"/>
                <a:ea typeface="Calibri" pitchFamily="34" charset="-122"/>
                <a:cs typeface="Calibri" pitchFamily="34" charset="-120"/>
              </a:rPr>
              <a:t>n is tiny. Three documented edits, twenty synthetic claims, one document pair. This demonstrates behaviour; it is not statistically meaningful.</a:t>
            </a:r>
            <a:endParaRPr lang="en-US" sz="1400" dirty="0"/>
          </a:p>
        </p:txBody>
      </p:sp>
      <p:sp>
        <p:nvSpPr>
          <p:cNvPr id="7" name="Shape 5"/>
          <p:cNvSpPr/>
          <p:nvPr/>
        </p:nvSpPr>
        <p:spPr>
          <a:xfrm>
            <a:off x="594360" y="2633472"/>
            <a:ext cx="64008" cy="64008"/>
          </a:xfrm>
          <a:prstGeom prst="rect">
            <a:avLst/>
          </a:prstGeom>
          <a:solidFill>
            <a:srgbClr val="6B7A85"/>
          </a:solidFill>
          <a:ln/>
        </p:spPr>
      </p:sp>
      <p:sp>
        <p:nvSpPr>
          <p:cNvPr id="8" name="Text 6"/>
          <p:cNvSpPr/>
          <p:nvPr/>
        </p:nvSpPr>
        <p:spPr>
          <a:xfrm>
            <a:off x="868680" y="2487168"/>
            <a:ext cx="10698480" cy="658368"/>
          </a:xfrm>
          <a:prstGeom prst="rect">
            <a:avLst/>
          </a:prstGeom>
          <a:noFill/>
          <a:ln/>
        </p:spPr>
        <p:txBody>
          <a:bodyPr wrap="square" lIns="0" tIns="0" rIns="0" bIns="0" rtlCol="0" anchor="ctr"/>
          <a:lstStyle/>
          <a:p>
            <a:pPr indent="0" marL="0">
              <a:buNone/>
            </a:pPr>
            <a:r>
              <a:rPr lang="en-US" sz="1400" dirty="0">
                <a:solidFill>
                  <a:srgbClr val="1C3141"/>
                </a:solidFill>
                <a:latin typeface="Calibri" pitchFamily="34" charset="0"/>
                <a:ea typeface="Calibri" pitchFamily="34" charset="-122"/>
                <a:cs typeface="Calibri" pitchFamily="34" charset="-120"/>
              </a:rPr>
              <a:t>One clinical area, one document format, one payer. Nothing here shows it generalises.</a:t>
            </a:r>
            <a:endParaRPr lang="en-US" sz="1400" dirty="0"/>
          </a:p>
        </p:txBody>
      </p:sp>
      <p:sp>
        <p:nvSpPr>
          <p:cNvPr id="9" name="Shape 7"/>
          <p:cNvSpPr/>
          <p:nvPr/>
        </p:nvSpPr>
        <p:spPr>
          <a:xfrm>
            <a:off x="594360" y="3383280"/>
            <a:ext cx="64008" cy="64008"/>
          </a:xfrm>
          <a:prstGeom prst="rect">
            <a:avLst/>
          </a:prstGeom>
          <a:solidFill>
            <a:srgbClr val="6B7A85"/>
          </a:solidFill>
          <a:ln/>
        </p:spPr>
      </p:sp>
      <p:sp>
        <p:nvSpPr>
          <p:cNvPr id="10" name="Text 8"/>
          <p:cNvSpPr/>
          <p:nvPr/>
        </p:nvSpPr>
        <p:spPr>
          <a:xfrm>
            <a:off x="868680" y="3236976"/>
            <a:ext cx="10698480" cy="658368"/>
          </a:xfrm>
          <a:prstGeom prst="rect">
            <a:avLst/>
          </a:prstGeom>
          <a:noFill/>
          <a:ln/>
        </p:spPr>
        <p:txBody>
          <a:bodyPr wrap="square" lIns="0" tIns="0" rIns="0" bIns="0" rtlCol="0" anchor="ctr"/>
          <a:lstStyle/>
          <a:p>
            <a:pPr indent="0" marL="0">
              <a:buNone/>
            </a:pPr>
            <a:r>
              <a:rPr lang="en-US" sz="1400" dirty="0">
                <a:solidFill>
                  <a:srgbClr val="1C3141"/>
                </a:solidFill>
                <a:latin typeface="Calibri" pitchFamily="34" charset="0"/>
                <a:ea typeface="Calibri" pitchFamily="34" charset="-122"/>
                <a:cs typeface="Calibri" pitchFamily="34" charset="-120"/>
              </a:rPr>
              <a:t>The gold ruleset and the claims were authored by the same person who built the extractor. Only the CMS revision history is genuinely external, which is why it carries the most weight.</a:t>
            </a:r>
            <a:endParaRPr lang="en-US" sz="1400" dirty="0"/>
          </a:p>
        </p:txBody>
      </p:sp>
      <p:sp>
        <p:nvSpPr>
          <p:cNvPr id="11" name="Shape 9"/>
          <p:cNvSpPr/>
          <p:nvPr/>
        </p:nvSpPr>
        <p:spPr>
          <a:xfrm>
            <a:off x="594360" y="4133088"/>
            <a:ext cx="64008" cy="64008"/>
          </a:xfrm>
          <a:prstGeom prst="rect">
            <a:avLst/>
          </a:prstGeom>
          <a:solidFill>
            <a:srgbClr val="6B7A85"/>
          </a:solidFill>
          <a:ln/>
        </p:spPr>
      </p:sp>
      <p:sp>
        <p:nvSpPr>
          <p:cNvPr id="12" name="Text 10"/>
          <p:cNvSpPr/>
          <p:nvPr/>
        </p:nvSpPr>
        <p:spPr>
          <a:xfrm>
            <a:off x="868680" y="3986784"/>
            <a:ext cx="10698480" cy="658368"/>
          </a:xfrm>
          <a:prstGeom prst="rect">
            <a:avLst/>
          </a:prstGeom>
          <a:noFill/>
          <a:ln/>
        </p:spPr>
        <p:txBody>
          <a:bodyPr wrap="square" lIns="0" tIns="0" rIns="0" bIns="0" rtlCol="0" anchor="ctr"/>
          <a:lstStyle/>
          <a:p>
            <a:pPr indent="0" marL="0">
              <a:buNone/>
            </a:pPr>
            <a:r>
              <a:rPr lang="en-US" sz="1400" dirty="0">
                <a:solidFill>
                  <a:srgbClr val="1C3141"/>
                </a:solidFill>
                <a:latin typeface="Calibri" pitchFamily="34" charset="0"/>
                <a:ea typeface="Calibri" pitchFamily="34" charset="-122"/>
                <a:cs typeface="Calibri" pitchFamily="34" charset="-120"/>
              </a:rPr>
              <a:t>The prototype still fails its own quality gate on two rules. One encodes a per-30-day limit the claim schema cannot express.</a:t>
            </a:r>
            <a:endParaRPr lang="en-US" sz="1400" dirty="0"/>
          </a:p>
        </p:txBody>
      </p:sp>
      <p:sp>
        <p:nvSpPr>
          <p:cNvPr id="13" name="Shape 11"/>
          <p:cNvSpPr/>
          <p:nvPr/>
        </p:nvSpPr>
        <p:spPr>
          <a:xfrm>
            <a:off x="594360" y="4882896"/>
            <a:ext cx="64008" cy="64008"/>
          </a:xfrm>
          <a:prstGeom prst="rect">
            <a:avLst/>
          </a:prstGeom>
          <a:solidFill>
            <a:srgbClr val="6B7A85"/>
          </a:solidFill>
          <a:ln/>
        </p:spPr>
      </p:sp>
      <p:sp>
        <p:nvSpPr>
          <p:cNvPr id="14" name="Text 12"/>
          <p:cNvSpPr/>
          <p:nvPr/>
        </p:nvSpPr>
        <p:spPr>
          <a:xfrm>
            <a:off x="868680" y="4736592"/>
            <a:ext cx="10698480" cy="658368"/>
          </a:xfrm>
          <a:prstGeom prst="rect">
            <a:avLst/>
          </a:prstGeom>
          <a:noFill/>
          <a:ln/>
        </p:spPr>
        <p:txBody>
          <a:bodyPr wrap="square" lIns="0" tIns="0" rIns="0" bIns="0" rtlCol="0" anchor="ctr"/>
          <a:lstStyle/>
          <a:p>
            <a:pPr indent="0" marL="0">
              <a:buNone/>
            </a:pPr>
            <a:r>
              <a:rPr lang="en-US" sz="1400" dirty="0">
                <a:solidFill>
                  <a:srgbClr val="1C3141"/>
                </a:solidFill>
                <a:latin typeface="Calibri" pitchFamily="34" charset="0"/>
                <a:ea typeface="Calibri" pitchFamily="34" charset="-122"/>
                <a:cs typeface="Calibri" pitchFamily="34" charset="-120"/>
              </a:rPr>
              <a:t>No OCR, no database, no promotion pipeline, and payer-provider contracts are not covered at all because no public corpus exists.</a:t>
            </a:r>
            <a:endParaRPr lang="en-US" sz="1400" dirty="0"/>
          </a:p>
        </p:txBody>
      </p:sp>
      <p:sp>
        <p:nvSpPr>
          <p:cNvPr id="15" name="Text 13"/>
          <p:cNvSpPr/>
          <p:nvPr/>
        </p:nvSpPr>
        <p:spPr>
          <a:xfrm>
            <a:off x="594360" y="5623560"/>
            <a:ext cx="10972800" cy="365760"/>
          </a:xfrm>
          <a:prstGeom prst="rect">
            <a:avLst/>
          </a:prstGeom>
          <a:noFill/>
          <a:ln/>
        </p:spPr>
        <p:txBody>
          <a:bodyPr wrap="square" lIns="0" tIns="0" rIns="0" bIns="0" rtlCol="0" anchor="ctr"/>
          <a:lstStyle/>
          <a:p>
            <a:pPr indent="0" marL="0">
              <a:buNone/>
            </a:pPr>
            <a:r>
              <a:rPr lang="en-US" sz="1600" i="1" dirty="0">
                <a:solidFill>
                  <a:srgbClr val="1C3141"/>
                </a:solidFill>
                <a:latin typeface="Cambria" pitchFamily="34" charset="0"/>
                <a:ea typeface="Cambria" pitchFamily="34" charset="-122"/>
                <a:cs typeface="Cambria" pitchFamily="34" charset="-120"/>
              </a:rPr>
              <a:t>Reporting the gate failure is the point. A tool that hides its own defects is worse than no tool.</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3141"/>
        </a:solidFill>
      </p:bgPr>
    </p:bg>
    <p:spTree>
      <p:nvGrpSpPr>
        <p:cNvPr id="1" name=""/>
        <p:cNvGrpSpPr/>
        <p:nvPr/>
      </p:nvGrpSpPr>
      <p:grpSpPr>
        <a:xfrm>
          <a:off x="0" y="0"/>
          <a:ext cx="0" cy="0"/>
          <a:chOff x="0" y="0"/>
          <a:chExt cx="0" cy="0"/>
        </a:xfrm>
      </p:grpSpPr>
      <p:sp>
        <p:nvSpPr>
          <p:cNvPr id="2" name="Text 0"/>
          <p:cNvSpPr/>
          <p:nvPr/>
        </p:nvSpPr>
        <p:spPr>
          <a:xfrm>
            <a:off x="594360" y="1737360"/>
            <a:ext cx="91440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this proves</a:t>
            </a:r>
            <a:endParaRPr lang="en-US" sz="3400" dirty="0"/>
          </a:p>
        </p:txBody>
      </p:sp>
      <p:sp>
        <p:nvSpPr>
          <p:cNvPr id="3" name="Text 1"/>
          <p:cNvSpPr/>
          <p:nvPr/>
        </p:nvSpPr>
        <p:spPr>
          <a:xfrm>
            <a:off x="594360" y="2560320"/>
            <a:ext cx="10241280" cy="914400"/>
          </a:xfrm>
          <a:prstGeom prst="rect">
            <a:avLst/>
          </a:prstGeom>
          <a:noFill/>
          <a:ln/>
        </p:spPr>
        <p:txBody>
          <a:bodyPr wrap="square" lIns="0" tIns="0" rIns="0" bIns="0" rtlCol="0" anchor="ctr"/>
          <a:lstStyle/>
          <a:p>
            <a:pPr indent="0" marL="0">
              <a:buNone/>
            </a:pPr>
            <a:r>
              <a:rPr lang="en-US" sz="1900" dirty="0">
                <a:solidFill>
                  <a:srgbClr val="CFDBE4"/>
                </a:solidFill>
                <a:latin typeface="Calibri" pitchFamily="34" charset="0"/>
                <a:ea typeface="Calibri" pitchFamily="34" charset="-122"/>
                <a:cs typeface="Calibri" pitchFamily="34" charset="-120"/>
              </a:rPr>
              <a:t>Rules can be derived from policy prose with a citation trail you can verify, and when the prose changes, the rules that broke can be found and priced.</a:t>
            </a:r>
            <a:endParaRPr lang="en-US" sz="1900" dirty="0"/>
          </a:p>
        </p:txBody>
      </p:sp>
      <p:sp>
        <p:nvSpPr>
          <p:cNvPr id="4" name="Shape 2"/>
          <p:cNvSpPr/>
          <p:nvPr/>
        </p:nvSpPr>
        <p:spPr>
          <a:xfrm>
            <a:off x="594360" y="3703320"/>
            <a:ext cx="1005840" cy="27432"/>
          </a:xfrm>
          <a:prstGeom prst="rect">
            <a:avLst/>
          </a:prstGeom>
          <a:solidFill>
            <a:srgbClr val="B4453A"/>
          </a:solidFill>
          <a:ln/>
        </p:spPr>
      </p:sp>
      <p:sp>
        <p:nvSpPr>
          <p:cNvPr id="5" name="Text 3"/>
          <p:cNvSpPr/>
          <p:nvPr/>
        </p:nvSpPr>
        <p:spPr>
          <a:xfrm>
            <a:off x="594360" y="4023360"/>
            <a:ext cx="10241280" cy="457200"/>
          </a:xfrm>
          <a:prstGeom prst="rect">
            <a:avLst/>
          </a:prstGeom>
          <a:noFill/>
          <a:ln/>
        </p:spPr>
        <p:txBody>
          <a:bodyPr wrap="square" lIns="0" tIns="0" rIns="0" bIns="0" rtlCol="0" anchor="ctr"/>
          <a:lstStyle/>
          <a:p>
            <a:pPr indent="0" marL="0">
              <a:buNone/>
            </a:pPr>
            <a:r>
              <a:rPr lang="en-US" sz="1500" i="1" dirty="0">
                <a:solidFill>
                  <a:srgbClr val="8FA3B2"/>
                </a:solidFill>
                <a:latin typeface="Calibri" pitchFamily="34" charset="0"/>
                <a:ea typeface="Calibri" pitchFamily="34" charset="-122"/>
                <a:cs typeface="Calibri" pitchFamily="34" charset="-120"/>
              </a:rPr>
              <a:t>It does not prove it generalises. I have written down what would have to be true for that.</a:t>
            </a:r>
            <a:endParaRPr lang="en-US" sz="1500" dirty="0"/>
          </a:p>
        </p:txBody>
      </p:sp>
      <p:sp>
        <p:nvSpPr>
          <p:cNvPr id="6" name="Text 4"/>
          <p:cNvSpPr/>
          <p:nvPr/>
        </p:nvSpPr>
        <p:spPr>
          <a:xfrm>
            <a:off x="594360" y="5120640"/>
            <a:ext cx="10241280" cy="320040"/>
          </a:xfrm>
          <a:prstGeom prst="rect">
            <a:avLst/>
          </a:prstGeom>
          <a:noFill/>
          <a:ln/>
        </p:spPr>
        <p:txBody>
          <a:bodyPr wrap="square" lIns="0" tIns="0" rIns="0" bIns="0" rtlCol="0" anchor="ctr"/>
          <a:lstStyle/>
          <a:p>
            <a:pPr indent="0" marL="0">
              <a:buNone/>
            </a:pPr>
            <a:r>
              <a:rPr lang="en-US" sz="1200" dirty="0">
                <a:solidFill>
                  <a:srgbClr val="6E8798"/>
                </a:solidFill>
                <a:latin typeface="Courier New" pitchFamily="34" charset="0"/>
                <a:ea typeface="Courier New" pitchFamily="34" charset="-122"/>
                <a:cs typeface="Courier New" pitchFamily="34" charset="-120"/>
              </a:rPr>
              <a:t>github.com/&lt;your-handle&gt;/cotiviti-assessment   ·   run it with:  python -m cli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Drift Monitor</dc:title>
  <dc:subject>PptxGenJS Presentation</dc:subject>
  <dc:creator>Nitin Chaube</dc:creator>
  <cp:lastModifiedBy>Nitin Chaube</cp:lastModifiedBy>
  <cp:revision>1</cp:revision>
  <dcterms:created xsi:type="dcterms:W3CDTF">2026-08-06T14:05:23Z</dcterms:created>
  <dcterms:modified xsi:type="dcterms:W3CDTF">2026-08-06T14:05:23Z</dcterms:modified>
</cp:coreProperties>
</file>